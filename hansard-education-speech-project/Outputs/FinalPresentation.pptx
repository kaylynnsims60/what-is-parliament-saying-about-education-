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77" r:id="rId3"/>
    <p:sldId id="257" r:id="rId4"/>
    <p:sldId id="258" r:id="rId5"/>
    <p:sldId id="278" r:id="rId6"/>
    <p:sldId id="276" r:id="rId7"/>
    <p:sldId id="283" r:id="rId8"/>
    <p:sldId id="284" r:id="rId9"/>
    <p:sldId id="282" r:id="rId10"/>
    <p:sldId id="259" r:id="rId11"/>
    <p:sldId id="280" r:id="rId12"/>
    <p:sldId id="281" r:id="rId13"/>
    <p:sldId id="260" r:id="rId14"/>
    <p:sldId id="261" r:id="rId15"/>
    <p:sldId id="285" r:id="rId16"/>
    <p:sldId id="271" r:id="rId17"/>
    <p:sldId id="270" r:id="rId18"/>
    <p:sldId id="275" r:id="rId19"/>
    <p:sldId id="264" r:id="rId20"/>
    <p:sldId id="272" r:id="rId21"/>
    <p:sldId id="273"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6501" autoAdjust="0"/>
  </p:normalViewPr>
  <p:slideViewPr>
    <p:cSldViewPr snapToGrid="0">
      <p:cViewPr varScale="1">
        <p:scale>
          <a:sx n="50" d="100"/>
          <a:sy n="50" d="100"/>
        </p:scale>
        <p:origin x="1906" y="38"/>
      </p:cViewPr>
      <p:guideLst/>
    </p:cSldViewPr>
  </p:slideViewPr>
  <p:notesTextViewPr>
    <p:cViewPr>
      <p:scale>
        <a:sx n="3" d="2"/>
        <a:sy n="3" d="2"/>
      </p:scale>
      <p:origin x="0" y="-3394"/>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32DBDA-5809-4975-94FC-B7D09CED6FC2}" type="doc">
      <dgm:prSet loTypeId="urn:microsoft.com/office/officeart/2016/7/layout/RepeatingBendingProcessNew" loCatId="process" qsTypeId="urn:microsoft.com/office/officeart/2005/8/quickstyle/simple1" qsCatId="simple" csTypeId="urn:microsoft.com/office/officeart/2005/8/colors/colorful5" csCatId="colorful" phldr="1"/>
      <dgm:spPr/>
      <dgm:t>
        <a:bodyPr/>
        <a:lstStyle/>
        <a:p>
          <a:endParaRPr lang="en-US"/>
        </a:p>
      </dgm:t>
    </dgm:pt>
    <dgm:pt modelId="{DC2135F9-ADF0-4B1D-B517-2075EB184D37}">
      <dgm:prSet/>
      <dgm:spPr/>
      <dgm:t>
        <a:bodyPr/>
        <a:lstStyle/>
        <a:p>
          <a:r>
            <a:rPr lang="en-US" dirty="0"/>
            <a:t>Sampled raw Hansard speech files</a:t>
          </a:r>
        </a:p>
      </dgm:t>
    </dgm:pt>
    <dgm:pt modelId="{1F952EDB-CD96-420F-AC3C-42B0CA016DF0}" type="parTrans" cxnId="{3D3FF9CB-8121-4E85-9058-F2495E119F16}">
      <dgm:prSet/>
      <dgm:spPr/>
      <dgm:t>
        <a:bodyPr/>
        <a:lstStyle/>
        <a:p>
          <a:endParaRPr lang="en-US"/>
        </a:p>
      </dgm:t>
    </dgm:pt>
    <dgm:pt modelId="{F26C5AEB-1DD7-4051-96DA-4A9ED4D3C68A}" type="sibTrans" cxnId="{3D3FF9CB-8121-4E85-9058-F2495E119F16}">
      <dgm:prSet/>
      <dgm:spPr/>
      <dgm:t>
        <a:bodyPr/>
        <a:lstStyle/>
        <a:p>
          <a:endParaRPr lang="en-US"/>
        </a:p>
      </dgm:t>
    </dgm:pt>
    <dgm:pt modelId="{1C3216D1-6D24-4516-9A43-348C03D179AA}">
      <dgm:prSet/>
      <dgm:spPr/>
      <dgm:t>
        <a:bodyPr/>
        <a:lstStyle/>
        <a:p>
          <a:r>
            <a:rPr lang="en-US" dirty="0"/>
            <a:t>Applied education keyword filter (60,8333 speeches)</a:t>
          </a:r>
        </a:p>
      </dgm:t>
    </dgm:pt>
    <dgm:pt modelId="{2CFD0C40-E9C4-41E5-8466-EC9D4F494CFC}" type="parTrans" cxnId="{3C46EE21-7DE1-40F0-B644-7F01546D210B}">
      <dgm:prSet/>
      <dgm:spPr/>
      <dgm:t>
        <a:bodyPr/>
        <a:lstStyle/>
        <a:p>
          <a:endParaRPr lang="en-US"/>
        </a:p>
      </dgm:t>
    </dgm:pt>
    <dgm:pt modelId="{EB13757B-10A3-4D43-BC46-044E6061A054}" type="sibTrans" cxnId="{3C46EE21-7DE1-40F0-B644-7F01546D210B}">
      <dgm:prSet/>
      <dgm:spPr/>
      <dgm:t>
        <a:bodyPr/>
        <a:lstStyle/>
        <a:p>
          <a:endParaRPr lang="en-US"/>
        </a:p>
      </dgm:t>
    </dgm:pt>
    <dgm:pt modelId="{2882AA5D-ABA7-4BE8-A28B-87CF55218764}">
      <dgm:prSet/>
      <dgm:spPr/>
      <dgm:t>
        <a:bodyPr/>
        <a:lstStyle/>
        <a:p>
          <a:r>
            <a:rPr lang="en-US" dirty="0"/>
            <a:t>Hand coded a 200-speech validation sample</a:t>
          </a:r>
        </a:p>
      </dgm:t>
    </dgm:pt>
    <dgm:pt modelId="{58ABE84A-549A-400A-984D-6E3D707AB6AF}" type="parTrans" cxnId="{8467F44B-A963-4A2B-AE13-0CC6616273E3}">
      <dgm:prSet/>
      <dgm:spPr/>
      <dgm:t>
        <a:bodyPr/>
        <a:lstStyle/>
        <a:p>
          <a:endParaRPr lang="en-US"/>
        </a:p>
      </dgm:t>
    </dgm:pt>
    <dgm:pt modelId="{429832BF-CDF8-46E3-B280-8E8DB2F94AF3}" type="sibTrans" cxnId="{8467F44B-A963-4A2B-AE13-0CC6616273E3}">
      <dgm:prSet/>
      <dgm:spPr/>
      <dgm:t>
        <a:bodyPr/>
        <a:lstStyle/>
        <a:p>
          <a:endParaRPr lang="en-US"/>
        </a:p>
      </dgm:t>
    </dgm:pt>
    <dgm:pt modelId="{EE517E74-6ED3-4378-BA2A-7AA9CFF0BC04}">
      <dgm:prSet/>
      <dgm:spPr/>
      <dgm:t>
        <a:bodyPr/>
        <a:lstStyle/>
        <a:p>
          <a:r>
            <a:rPr lang="en-US" b="0" i="0" baseline="0" dirty="0"/>
            <a:t>Compared hand coding to zero-shot labels</a:t>
          </a:r>
          <a:endParaRPr lang="en-US" dirty="0"/>
        </a:p>
      </dgm:t>
    </dgm:pt>
    <dgm:pt modelId="{688E56AE-AC08-406B-9890-244210A1F717}" type="parTrans" cxnId="{E3C4E327-7724-411A-BAE8-B77518BA942C}">
      <dgm:prSet/>
      <dgm:spPr/>
      <dgm:t>
        <a:bodyPr/>
        <a:lstStyle/>
        <a:p>
          <a:endParaRPr lang="en-US"/>
        </a:p>
      </dgm:t>
    </dgm:pt>
    <dgm:pt modelId="{FCCC0B0E-D3BA-4C14-A4C9-70E073EFE9E2}" type="sibTrans" cxnId="{E3C4E327-7724-411A-BAE8-B77518BA942C}">
      <dgm:prSet/>
      <dgm:spPr/>
      <dgm:t>
        <a:bodyPr/>
        <a:lstStyle/>
        <a:p>
          <a:endParaRPr lang="en-US"/>
        </a:p>
      </dgm:t>
    </dgm:pt>
    <dgm:pt modelId="{FE990AA5-4103-42D2-B0D7-9D199619BA70}">
      <dgm:prSet/>
      <dgm:spPr/>
      <dgm:t>
        <a:bodyPr/>
        <a:lstStyle/>
        <a:p>
          <a:r>
            <a:rPr lang="en-US" dirty="0"/>
            <a:t>Analyze topic prevalence overall, over time, and by party</a:t>
          </a:r>
        </a:p>
      </dgm:t>
    </dgm:pt>
    <dgm:pt modelId="{EC7B27F9-C094-4E0F-96A0-7FB1FEE10658}" type="parTrans" cxnId="{CB9AF97F-1241-4C9B-BD75-227B2ED5E6EB}">
      <dgm:prSet/>
      <dgm:spPr/>
      <dgm:t>
        <a:bodyPr/>
        <a:lstStyle/>
        <a:p>
          <a:endParaRPr lang="en-US"/>
        </a:p>
      </dgm:t>
    </dgm:pt>
    <dgm:pt modelId="{B3BCF508-0278-4D4E-86EF-5E7DEC01BF71}" type="sibTrans" cxnId="{CB9AF97F-1241-4C9B-BD75-227B2ED5E6EB}">
      <dgm:prSet/>
      <dgm:spPr/>
      <dgm:t>
        <a:bodyPr/>
        <a:lstStyle/>
        <a:p>
          <a:endParaRPr lang="en-US"/>
        </a:p>
      </dgm:t>
    </dgm:pt>
    <dgm:pt modelId="{E5A50C4F-AAFE-48D0-A0FA-4BABF142DFDC}">
      <dgm:prSet/>
      <dgm:spPr/>
      <dgm:t>
        <a:bodyPr/>
        <a:lstStyle/>
        <a:p>
          <a:r>
            <a:rPr lang="en-US"/>
            <a:t>Built a master sample (1,312,018 speeches)</a:t>
          </a:r>
          <a:endParaRPr lang="en-US" dirty="0"/>
        </a:p>
      </dgm:t>
    </dgm:pt>
    <dgm:pt modelId="{6D38C540-A188-470B-A1AA-583C441EE67D}" type="parTrans" cxnId="{45E9A3E9-0714-4760-82B2-4920EC2C6D53}">
      <dgm:prSet/>
      <dgm:spPr/>
      <dgm:t>
        <a:bodyPr/>
        <a:lstStyle/>
        <a:p>
          <a:endParaRPr lang="en-CA"/>
        </a:p>
      </dgm:t>
    </dgm:pt>
    <dgm:pt modelId="{C69167D0-DEE7-485F-979D-2051DD67C3D6}" type="sibTrans" cxnId="{45E9A3E9-0714-4760-82B2-4920EC2C6D53}">
      <dgm:prSet/>
      <dgm:spPr/>
      <dgm:t>
        <a:bodyPr/>
        <a:lstStyle/>
        <a:p>
          <a:endParaRPr lang="en-CA"/>
        </a:p>
      </dgm:t>
    </dgm:pt>
    <dgm:pt modelId="{6BB930E4-FE19-4AD7-9184-19342F994D65}">
      <dgm:prSet/>
      <dgm:spPr/>
      <dgm:t>
        <a:bodyPr/>
        <a:lstStyle/>
        <a:p>
          <a:r>
            <a:rPr lang="en-US" b="0" i="0" baseline="0" dirty="0"/>
            <a:t>Built topic-specific training sets</a:t>
          </a:r>
          <a:endParaRPr lang="en-US" dirty="0"/>
        </a:p>
      </dgm:t>
    </dgm:pt>
    <dgm:pt modelId="{04BA95B8-1DB8-4682-B52A-F9B77E3BBC25}" type="parTrans" cxnId="{C4A7D577-BA92-40FE-9465-5E057166A1D2}">
      <dgm:prSet/>
      <dgm:spPr/>
      <dgm:t>
        <a:bodyPr/>
        <a:lstStyle/>
        <a:p>
          <a:endParaRPr lang="en-CA"/>
        </a:p>
      </dgm:t>
    </dgm:pt>
    <dgm:pt modelId="{95FE3956-A6FD-4FC3-A4C2-1AA0315D1359}" type="sibTrans" cxnId="{C4A7D577-BA92-40FE-9465-5E057166A1D2}">
      <dgm:prSet/>
      <dgm:spPr/>
      <dgm:t>
        <a:bodyPr/>
        <a:lstStyle/>
        <a:p>
          <a:endParaRPr lang="en-CA"/>
        </a:p>
      </dgm:t>
    </dgm:pt>
    <dgm:pt modelId="{378D62B4-BD8D-4964-B3EE-747977612C4E}">
      <dgm:prSet/>
      <dgm:spPr/>
      <dgm:t>
        <a:bodyPr/>
        <a:lstStyle/>
        <a:p>
          <a:r>
            <a:rPr lang="en-US" b="0" i="0" baseline="0" dirty="0"/>
            <a:t>Applied final classifiers</a:t>
          </a:r>
          <a:endParaRPr lang="en-US" dirty="0"/>
        </a:p>
      </dgm:t>
    </dgm:pt>
    <dgm:pt modelId="{1171756D-6134-472C-B5DF-59FE4A61FED4}" type="parTrans" cxnId="{4EE2A164-B8D3-43E2-AE5E-FB1A622F0DC3}">
      <dgm:prSet/>
      <dgm:spPr/>
      <dgm:t>
        <a:bodyPr/>
        <a:lstStyle/>
        <a:p>
          <a:endParaRPr lang="en-CA"/>
        </a:p>
      </dgm:t>
    </dgm:pt>
    <dgm:pt modelId="{9D330FDC-0456-4D53-AA17-A7C8CA031AA0}" type="sibTrans" cxnId="{4EE2A164-B8D3-43E2-AE5E-FB1A622F0DC3}">
      <dgm:prSet/>
      <dgm:spPr/>
      <dgm:t>
        <a:bodyPr/>
        <a:lstStyle/>
        <a:p>
          <a:endParaRPr lang="en-CA"/>
        </a:p>
      </dgm:t>
    </dgm:pt>
    <dgm:pt modelId="{C54E62D9-00E2-45DC-9F0A-DB5A955324A9}" type="pres">
      <dgm:prSet presAssocID="{7832DBDA-5809-4975-94FC-B7D09CED6FC2}" presName="Name0" presStyleCnt="0">
        <dgm:presLayoutVars>
          <dgm:dir/>
          <dgm:resizeHandles val="exact"/>
        </dgm:presLayoutVars>
      </dgm:prSet>
      <dgm:spPr/>
    </dgm:pt>
    <dgm:pt modelId="{A4058170-BCB2-4BB2-B461-B89183BDAC3C}" type="pres">
      <dgm:prSet presAssocID="{DC2135F9-ADF0-4B1D-B517-2075EB184D37}" presName="node" presStyleLbl="node1" presStyleIdx="0" presStyleCnt="8">
        <dgm:presLayoutVars>
          <dgm:bulletEnabled val="1"/>
        </dgm:presLayoutVars>
      </dgm:prSet>
      <dgm:spPr/>
    </dgm:pt>
    <dgm:pt modelId="{D1DD8A70-7D5A-4351-8FAD-31BEF4FD3BB4}" type="pres">
      <dgm:prSet presAssocID="{F26C5AEB-1DD7-4051-96DA-4A9ED4D3C68A}" presName="sibTrans" presStyleLbl="sibTrans1D1" presStyleIdx="0" presStyleCnt="7"/>
      <dgm:spPr/>
    </dgm:pt>
    <dgm:pt modelId="{C0D8CDEC-3649-4871-84F4-640F6F24293A}" type="pres">
      <dgm:prSet presAssocID="{F26C5AEB-1DD7-4051-96DA-4A9ED4D3C68A}" presName="connectorText" presStyleLbl="sibTrans1D1" presStyleIdx="0" presStyleCnt="7"/>
      <dgm:spPr/>
    </dgm:pt>
    <dgm:pt modelId="{FE91CB53-8EA4-4E7F-89A9-F6C1C6EEFE98}" type="pres">
      <dgm:prSet presAssocID="{E5A50C4F-AAFE-48D0-A0FA-4BABF142DFDC}" presName="node" presStyleLbl="node1" presStyleIdx="1" presStyleCnt="8">
        <dgm:presLayoutVars>
          <dgm:bulletEnabled val="1"/>
        </dgm:presLayoutVars>
      </dgm:prSet>
      <dgm:spPr/>
    </dgm:pt>
    <dgm:pt modelId="{DD7BC0CE-FD46-4E9D-B7B1-44CD1B043E01}" type="pres">
      <dgm:prSet presAssocID="{C69167D0-DEE7-485F-979D-2051DD67C3D6}" presName="sibTrans" presStyleLbl="sibTrans1D1" presStyleIdx="1" presStyleCnt="7"/>
      <dgm:spPr/>
    </dgm:pt>
    <dgm:pt modelId="{15A17FE7-5F4B-401E-A9C8-C571E64CC538}" type="pres">
      <dgm:prSet presAssocID="{C69167D0-DEE7-485F-979D-2051DD67C3D6}" presName="connectorText" presStyleLbl="sibTrans1D1" presStyleIdx="1" presStyleCnt="7"/>
      <dgm:spPr/>
    </dgm:pt>
    <dgm:pt modelId="{3C4E1602-95E6-4323-A0B5-53D98871AC76}" type="pres">
      <dgm:prSet presAssocID="{1C3216D1-6D24-4516-9A43-348C03D179AA}" presName="node" presStyleLbl="node1" presStyleIdx="2" presStyleCnt="8">
        <dgm:presLayoutVars>
          <dgm:bulletEnabled val="1"/>
        </dgm:presLayoutVars>
      </dgm:prSet>
      <dgm:spPr/>
    </dgm:pt>
    <dgm:pt modelId="{5860CD19-DAE9-4240-AB6E-60C09BE25E18}" type="pres">
      <dgm:prSet presAssocID="{EB13757B-10A3-4D43-BC46-044E6061A054}" presName="sibTrans" presStyleLbl="sibTrans1D1" presStyleIdx="2" presStyleCnt="7"/>
      <dgm:spPr/>
    </dgm:pt>
    <dgm:pt modelId="{33DFB872-E189-432D-AA1F-8FBE4E60E855}" type="pres">
      <dgm:prSet presAssocID="{EB13757B-10A3-4D43-BC46-044E6061A054}" presName="connectorText" presStyleLbl="sibTrans1D1" presStyleIdx="2" presStyleCnt="7"/>
      <dgm:spPr/>
    </dgm:pt>
    <dgm:pt modelId="{30C9B354-5B6F-48E1-9E07-4090CA1B919B}" type="pres">
      <dgm:prSet presAssocID="{2882AA5D-ABA7-4BE8-A28B-87CF55218764}" presName="node" presStyleLbl="node1" presStyleIdx="3" presStyleCnt="8">
        <dgm:presLayoutVars>
          <dgm:bulletEnabled val="1"/>
        </dgm:presLayoutVars>
      </dgm:prSet>
      <dgm:spPr/>
    </dgm:pt>
    <dgm:pt modelId="{FB90CDB0-8F81-4364-B75C-24FD73933822}" type="pres">
      <dgm:prSet presAssocID="{429832BF-CDF8-46E3-B280-8E8DB2F94AF3}" presName="sibTrans" presStyleLbl="sibTrans1D1" presStyleIdx="3" presStyleCnt="7"/>
      <dgm:spPr/>
    </dgm:pt>
    <dgm:pt modelId="{24D56DFA-1DE2-4DCF-9029-5766476B56C5}" type="pres">
      <dgm:prSet presAssocID="{429832BF-CDF8-46E3-B280-8E8DB2F94AF3}" presName="connectorText" presStyleLbl="sibTrans1D1" presStyleIdx="3" presStyleCnt="7"/>
      <dgm:spPr/>
    </dgm:pt>
    <dgm:pt modelId="{5B02F804-4F0D-405D-8ACC-4E42B8A8AB0B}" type="pres">
      <dgm:prSet presAssocID="{EE517E74-6ED3-4378-BA2A-7AA9CFF0BC04}" presName="node" presStyleLbl="node1" presStyleIdx="4" presStyleCnt="8">
        <dgm:presLayoutVars>
          <dgm:bulletEnabled val="1"/>
        </dgm:presLayoutVars>
      </dgm:prSet>
      <dgm:spPr/>
    </dgm:pt>
    <dgm:pt modelId="{E59E5C0B-CFEA-4388-A6D0-594FF8FC42FE}" type="pres">
      <dgm:prSet presAssocID="{FCCC0B0E-D3BA-4C14-A4C9-70E073EFE9E2}" presName="sibTrans" presStyleLbl="sibTrans1D1" presStyleIdx="4" presStyleCnt="7"/>
      <dgm:spPr/>
    </dgm:pt>
    <dgm:pt modelId="{F5B1260C-6511-42A5-980E-E816A627B795}" type="pres">
      <dgm:prSet presAssocID="{FCCC0B0E-D3BA-4C14-A4C9-70E073EFE9E2}" presName="connectorText" presStyleLbl="sibTrans1D1" presStyleIdx="4" presStyleCnt="7"/>
      <dgm:spPr/>
    </dgm:pt>
    <dgm:pt modelId="{EBF3DFDC-7EE8-434E-9934-442C24BA59CC}" type="pres">
      <dgm:prSet presAssocID="{6BB930E4-FE19-4AD7-9184-19342F994D65}" presName="node" presStyleLbl="node1" presStyleIdx="5" presStyleCnt="8">
        <dgm:presLayoutVars>
          <dgm:bulletEnabled val="1"/>
        </dgm:presLayoutVars>
      </dgm:prSet>
      <dgm:spPr/>
    </dgm:pt>
    <dgm:pt modelId="{9031E1AF-6FF0-4455-8CFE-DF720AD2377B}" type="pres">
      <dgm:prSet presAssocID="{95FE3956-A6FD-4FC3-A4C2-1AA0315D1359}" presName="sibTrans" presStyleLbl="sibTrans1D1" presStyleIdx="5" presStyleCnt="7"/>
      <dgm:spPr/>
    </dgm:pt>
    <dgm:pt modelId="{3528C0DA-AD9C-4036-9C2B-8996489FD2E3}" type="pres">
      <dgm:prSet presAssocID="{95FE3956-A6FD-4FC3-A4C2-1AA0315D1359}" presName="connectorText" presStyleLbl="sibTrans1D1" presStyleIdx="5" presStyleCnt="7"/>
      <dgm:spPr/>
    </dgm:pt>
    <dgm:pt modelId="{C3B2EE10-A87E-416C-99BD-1F2E60FF54E6}" type="pres">
      <dgm:prSet presAssocID="{378D62B4-BD8D-4964-B3EE-747977612C4E}" presName="node" presStyleLbl="node1" presStyleIdx="6" presStyleCnt="8">
        <dgm:presLayoutVars>
          <dgm:bulletEnabled val="1"/>
        </dgm:presLayoutVars>
      </dgm:prSet>
      <dgm:spPr/>
    </dgm:pt>
    <dgm:pt modelId="{B5DFF75D-F169-4B53-93F2-D83B67DF942A}" type="pres">
      <dgm:prSet presAssocID="{9D330FDC-0456-4D53-AA17-A7C8CA031AA0}" presName="sibTrans" presStyleLbl="sibTrans1D1" presStyleIdx="6" presStyleCnt="7"/>
      <dgm:spPr/>
    </dgm:pt>
    <dgm:pt modelId="{F203D454-2845-42AC-A126-E33B6FE412E3}" type="pres">
      <dgm:prSet presAssocID="{9D330FDC-0456-4D53-AA17-A7C8CA031AA0}" presName="connectorText" presStyleLbl="sibTrans1D1" presStyleIdx="6" presStyleCnt="7"/>
      <dgm:spPr/>
    </dgm:pt>
    <dgm:pt modelId="{F8AC9C3A-2325-4D53-84E7-4DAD03ECCA7E}" type="pres">
      <dgm:prSet presAssocID="{FE990AA5-4103-42D2-B0D7-9D199619BA70}" presName="node" presStyleLbl="node1" presStyleIdx="7" presStyleCnt="8">
        <dgm:presLayoutVars>
          <dgm:bulletEnabled val="1"/>
        </dgm:presLayoutVars>
      </dgm:prSet>
      <dgm:spPr/>
    </dgm:pt>
  </dgm:ptLst>
  <dgm:cxnLst>
    <dgm:cxn modelId="{BF91FC16-DC79-48E0-A9D8-4EDC65C70604}" type="presOf" srcId="{E5A50C4F-AAFE-48D0-A0FA-4BABF142DFDC}" destId="{FE91CB53-8EA4-4E7F-89A9-F6C1C6EEFE98}" srcOrd="0" destOrd="0" presId="urn:microsoft.com/office/officeart/2016/7/layout/RepeatingBendingProcessNew"/>
    <dgm:cxn modelId="{8A27F21D-DC75-49D0-BFBC-BC5C69C946BE}" type="presOf" srcId="{95FE3956-A6FD-4FC3-A4C2-1AA0315D1359}" destId="{3528C0DA-AD9C-4036-9C2B-8996489FD2E3}" srcOrd="1" destOrd="0" presId="urn:microsoft.com/office/officeart/2016/7/layout/RepeatingBendingProcessNew"/>
    <dgm:cxn modelId="{3C46EE21-7DE1-40F0-B644-7F01546D210B}" srcId="{7832DBDA-5809-4975-94FC-B7D09CED6FC2}" destId="{1C3216D1-6D24-4516-9A43-348C03D179AA}" srcOrd="2" destOrd="0" parTransId="{2CFD0C40-E9C4-41E5-8466-EC9D4F494CFC}" sibTransId="{EB13757B-10A3-4D43-BC46-044E6061A054}"/>
    <dgm:cxn modelId="{E3C4E327-7724-411A-BAE8-B77518BA942C}" srcId="{7832DBDA-5809-4975-94FC-B7D09CED6FC2}" destId="{EE517E74-6ED3-4378-BA2A-7AA9CFF0BC04}" srcOrd="4" destOrd="0" parTransId="{688E56AE-AC08-406B-9890-244210A1F717}" sibTransId="{FCCC0B0E-D3BA-4C14-A4C9-70E073EFE9E2}"/>
    <dgm:cxn modelId="{32BEC835-A278-4328-BAB4-F582A8104C9D}" type="presOf" srcId="{EB13757B-10A3-4D43-BC46-044E6061A054}" destId="{5860CD19-DAE9-4240-AB6E-60C09BE25E18}" srcOrd="0" destOrd="0" presId="urn:microsoft.com/office/officeart/2016/7/layout/RepeatingBendingProcessNew"/>
    <dgm:cxn modelId="{76596C3E-F842-45E5-B0D5-BA602215DFA7}" type="presOf" srcId="{FCCC0B0E-D3BA-4C14-A4C9-70E073EFE9E2}" destId="{F5B1260C-6511-42A5-980E-E816A627B795}" srcOrd="1" destOrd="0" presId="urn:microsoft.com/office/officeart/2016/7/layout/RepeatingBendingProcessNew"/>
    <dgm:cxn modelId="{32A0C43E-64D0-49C9-A51C-E3D7B4300F8D}" type="presOf" srcId="{F26C5AEB-1DD7-4051-96DA-4A9ED4D3C68A}" destId="{D1DD8A70-7D5A-4351-8FAD-31BEF4FD3BB4}" srcOrd="0" destOrd="0" presId="urn:microsoft.com/office/officeart/2016/7/layout/RepeatingBendingProcessNew"/>
    <dgm:cxn modelId="{FAC2F35C-C858-4FD7-AA35-6133C58CB461}" type="presOf" srcId="{9D330FDC-0456-4D53-AA17-A7C8CA031AA0}" destId="{B5DFF75D-F169-4B53-93F2-D83B67DF942A}" srcOrd="0" destOrd="0" presId="urn:microsoft.com/office/officeart/2016/7/layout/RepeatingBendingProcessNew"/>
    <dgm:cxn modelId="{91B6A743-E5DC-4EF1-B08F-CF4EA4F51FD3}" type="presOf" srcId="{1C3216D1-6D24-4516-9A43-348C03D179AA}" destId="{3C4E1602-95E6-4323-A0B5-53D98871AC76}" srcOrd="0" destOrd="0" presId="urn:microsoft.com/office/officeart/2016/7/layout/RepeatingBendingProcessNew"/>
    <dgm:cxn modelId="{4EE2A164-B8D3-43E2-AE5E-FB1A622F0DC3}" srcId="{7832DBDA-5809-4975-94FC-B7D09CED6FC2}" destId="{378D62B4-BD8D-4964-B3EE-747977612C4E}" srcOrd="6" destOrd="0" parTransId="{1171756D-6134-472C-B5DF-59FE4A61FED4}" sibTransId="{9D330FDC-0456-4D53-AA17-A7C8CA031AA0}"/>
    <dgm:cxn modelId="{683ABE6A-9670-4425-ACC5-68401E491A60}" type="presOf" srcId="{EE517E74-6ED3-4378-BA2A-7AA9CFF0BC04}" destId="{5B02F804-4F0D-405D-8ACC-4E42B8A8AB0B}" srcOrd="0" destOrd="0" presId="urn:microsoft.com/office/officeart/2016/7/layout/RepeatingBendingProcessNew"/>
    <dgm:cxn modelId="{8467F44B-A963-4A2B-AE13-0CC6616273E3}" srcId="{7832DBDA-5809-4975-94FC-B7D09CED6FC2}" destId="{2882AA5D-ABA7-4BE8-A28B-87CF55218764}" srcOrd="3" destOrd="0" parTransId="{58ABE84A-549A-400A-984D-6E3D707AB6AF}" sibTransId="{429832BF-CDF8-46E3-B280-8E8DB2F94AF3}"/>
    <dgm:cxn modelId="{AC573974-740D-4DB7-89F1-9A4D931E1C25}" type="presOf" srcId="{F26C5AEB-1DD7-4051-96DA-4A9ED4D3C68A}" destId="{C0D8CDEC-3649-4871-84F4-640F6F24293A}" srcOrd="1" destOrd="0" presId="urn:microsoft.com/office/officeart/2016/7/layout/RepeatingBendingProcessNew"/>
    <dgm:cxn modelId="{2F64FF55-85EC-4210-B828-68B7866A8E24}" type="presOf" srcId="{2882AA5D-ABA7-4BE8-A28B-87CF55218764}" destId="{30C9B354-5B6F-48E1-9E07-4090CA1B919B}" srcOrd="0" destOrd="0" presId="urn:microsoft.com/office/officeart/2016/7/layout/RepeatingBendingProcessNew"/>
    <dgm:cxn modelId="{C4A7D577-BA92-40FE-9465-5E057166A1D2}" srcId="{7832DBDA-5809-4975-94FC-B7D09CED6FC2}" destId="{6BB930E4-FE19-4AD7-9184-19342F994D65}" srcOrd="5" destOrd="0" parTransId="{04BA95B8-1DB8-4682-B52A-F9B77E3BBC25}" sibTransId="{95FE3956-A6FD-4FC3-A4C2-1AA0315D1359}"/>
    <dgm:cxn modelId="{4F3E457D-6ECB-4B41-AB9C-603AC8DD36B1}" type="presOf" srcId="{FE990AA5-4103-42D2-B0D7-9D199619BA70}" destId="{F8AC9C3A-2325-4D53-84E7-4DAD03ECCA7E}" srcOrd="0" destOrd="0" presId="urn:microsoft.com/office/officeart/2016/7/layout/RepeatingBendingProcessNew"/>
    <dgm:cxn modelId="{CB9AF97F-1241-4C9B-BD75-227B2ED5E6EB}" srcId="{7832DBDA-5809-4975-94FC-B7D09CED6FC2}" destId="{FE990AA5-4103-42D2-B0D7-9D199619BA70}" srcOrd="7" destOrd="0" parTransId="{EC7B27F9-C094-4E0F-96A0-7FB1FEE10658}" sibTransId="{B3BCF508-0278-4D4E-86EF-5E7DEC01BF71}"/>
    <dgm:cxn modelId="{D7816A81-890F-4761-B8EE-0E04DB3B4EBA}" type="presOf" srcId="{DC2135F9-ADF0-4B1D-B517-2075EB184D37}" destId="{A4058170-BCB2-4BB2-B461-B89183BDAC3C}" srcOrd="0" destOrd="0" presId="urn:microsoft.com/office/officeart/2016/7/layout/RepeatingBendingProcessNew"/>
    <dgm:cxn modelId="{19F74A87-DE2D-4D02-B3B0-F4C0FDF1E0B3}" type="presOf" srcId="{9D330FDC-0456-4D53-AA17-A7C8CA031AA0}" destId="{F203D454-2845-42AC-A126-E33B6FE412E3}" srcOrd="1" destOrd="0" presId="urn:microsoft.com/office/officeart/2016/7/layout/RepeatingBendingProcessNew"/>
    <dgm:cxn modelId="{8C1ECC87-FBEE-4417-BB45-735A7D91F499}" type="presOf" srcId="{429832BF-CDF8-46E3-B280-8E8DB2F94AF3}" destId="{24D56DFA-1DE2-4DCF-9029-5766476B56C5}" srcOrd="1" destOrd="0" presId="urn:microsoft.com/office/officeart/2016/7/layout/RepeatingBendingProcessNew"/>
    <dgm:cxn modelId="{CF0E758C-DA9A-48F3-8FE7-A9DF7EFF4BC8}" type="presOf" srcId="{FCCC0B0E-D3BA-4C14-A4C9-70E073EFE9E2}" destId="{E59E5C0B-CFEA-4388-A6D0-594FF8FC42FE}" srcOrd="0" destOrd="0" presId="urn:microsoft.com/office/officeart/2016/7/layout/RepeatingBendingProcessNew"/>
    <dgm:cxn modelId="{A4A500A6-8273-4983-B681-8843FBF73173}" type="presOf" srcId="{429832BF-CDF8-46E3-B280-8E8DB2F94AF3}" destId="{FB90CDB0-8F81-4364-B75C-24FD73933822}" srcOrd="0" destOrd="0" presId="urn:microsoft.com/office/officeart/2016/7/layout/RepeatingBendingProcessNew"/>
    <dgm:cxn modelId="{39E665A6-EEE3-4ACF-A5AE-4E067AC1350B}" type="presOf" srcId="{378D62B4-BD8D-4964-B3EE-747977612C4E}" destId="{C3B2EE10-A87E-416C-99BD-1F2E60FF54E6}" srcOrd="0" destOrd="0" presId="urn:microsoft.com/office/officeart/2016/7/layout/RepeatingBendingProcessNew"/>
    <dgm:cxn modelId="{CF15E2BB-20C4-4143-B4A2-7E78E65071FA}" type="presOf" srcId="{6BB930E4-FE19-4AD7-9184-19342F994D65}" destId="{EBF3DFDC-7EE8-434E-9934-442C24BA59CC}" srcOrd="0" destOrd="0" presId="urn:microsoft.com/office/officeart/2016/7/layout/RepeatingBendingProcessNew"/>
    <dgm:cxn modelId="{BF1E84C1-EBE6-484D-94AF-1BF031675A3E}" type="presOf" srcId="{C69167D0-DEE7-485F-979D-2051DD67C3D6}" destId="{DD7BC0CE-FD46-4E9D-B7B1-44CD1B043E01}" srcOrd="0" destOrd="0" presId="urn:microsoft.com/office/officeart/2016/7/layout/RepeatingBendingProcessNew"/>
    <dgm:cxn modelId="{6EC599C1-71FF-4025-A640-B88EFFCAFFB6}" type="presOf" srcId="{C69167D0-DEE7-485F-979D-2051DD67C3D6}" destId="{15A17FE7-5F4B-401E-A9C8-C571E64CC538}" srcOrd="1" destOrd="0" presId="urn:microsoft.com/office/officeart/2016/7/layout/RepeatingBendingProcessNew"/>
    <dgm:cxn modelId="{8C1052C6-80D1-405D-9728-A8958720BA55}" type="presOf" srcId="{EB13757B-10A3-4D43-BC46-044E6061A054}" destId="{33DFB872-E189-432D-AA1F-8FBE4E60E855}" srcOrd="1" destOrd="0" presId="urn:microsoft.com/office/officeart/2016/7/layout/RepeatingBendingProcessNew"/>
    <dgm:cxn modelId="{3D3FF9CB-8121-4E85-9058-F2495E119F16}" srcId="{7832DBDA-5809-4975-94FC-B7D09CED6FC2}" destId="{DC2135F9-ADF0-4B1D-B517-2075EB184D37}" srcOrd="0" destOrd="0" parTransId="{1F952EDB-CD96-420F-AC3C-42B0CA016DF0}" sibTransId="{F26C5AEB-1DD7-4051-96DA-4A9ED4D3C68A}"/>
    <dgm:cxn modelId="{45E9A3E9-0714-4760-82B2-4920EC2C6D53}" srcId="{7832DBDA-5809-4975-94FC-B7D09CED6FC2}" destId="{E5A50C4F-AAFE-48D0-A0FA-4BABF142DFDC}" srcOrd="1" destOrd="0" parTransId="{6D38C540-A188-470B-A1AA-583C441EE67D}" sibTransId="{C69167D0-DEE7-485F-979D-2051DD67C3D6}"/>
    <dgm:cxn modelId="{2E6CE3EC-7981-4A93-9F15-0DB1D653B1FB}" type="presOf" srcId="{95FE3956-A6FD-4FC3-A4C2-1AA0315D1359}" destId="{9031E1AF-6FF0-4455-8CFE-DF720AD2377B}" srcOrd="0" destOrd="0" presId="urn:microsoft.com/office/officeart/2016/7/layout/RepeatingBendingProcessNew"/>
    <dgm:cxn modelId="{7BA98EF2-F0E8-4D68-944B-93F58765311E}" type="presOf" srcId="{7832DBDA-5809-4975-94FC-B7D09CED6FC2}" destId="{C54E62D9-00E2-45DC-9F0A-DB5A955324A9}" srcOrd="0" destOrd="0" presId="urn:microsoft.com/office/officeart/2016/7/layout/RepeatingBendingProcessNew"/>
    <dgm:cxn modelId="{F4A63E65-2E3E-46C2-A632-1F467A147D1B}" type="presParOf" srcId="{C54E62D9-00E2-45DC-9F0A-DB5A955324A9}" destId="{A4058170-BCB2-4BB2-B461-B89183BDAC3C}" srcOrd="0" destOrd="0" presId="urn:microsoft.com/office/officeart/2016/7/layout/RepeatingBendingProcessNew"/>
    <dgm:cxn modelId="{2BB79E4F-018F-4B2C-95D1-1760E693F612}" type="presParOf" srcId="{C54E62D9-00E2-45DC-9F0A-DB5A955324A9}" destId="{D1DD8A70-7D5A-4351-8FAD-31BEF4FD3BB4}" srcOrd="1" destOrd="0" presId="urn:microsoft.com/office/officeart/2016/7/layout/RepeatingBendingProcessNew"/>
    <dgm:cxn modelId="{BF494B22-7969-49FA-8103-BE053928817C}" type="presParOf" srcId="{D1DD8A70-7D5A-4351-8FAD-31BEF4FD3BB4}" destId="{C0D8CDEC-3649-4871-84F4-640F6F24293A}" srcOrd="0" destOrd="0" presId="urn:microsoft.com/office/officeart/2016/7/layout/RepeatingBendingProcessNew"/>
    <dgm:cxn modelId="{C7CEB9CA-0712-4B2F-9044-AE683FB447CE}" type="presParOf" srcId="{C54E62D9-00E2-45DC-9F0A-DB5A955324A9}" destId="{FE91CB53-8EA4-4E7F-89A9-F6C1C6EEFE98}" srcOrd="2" destOrd="0" presId="urn:microsoft.com/office/officeart/2016/7/layout/RepeatingBendingProcessNew"/>
    <dgm:cxn modelId="{0A7702D4-CCC7-46C3-B852-9ACD5D83F3EA}" type="presParOf" srcId="{C54E62D9-00E2-45DC-9F0A-DB5A955324A9}" destId="{DD7BC0CE-FD46-4E9D-B7B1-44CD1B043E01}" srcOrd="3" destOrd="0" presId="urn:microsoft.com/office/officeart/2016/7/layout/RepeatingBendingProcessNew"/>
    <dgm:cxn modelId="{D11C2615-EC1B-4D18-8D9C-3D8B02A62814}" type="presParOf" srcId="{DD7BC0CE-FD46-4E9D-B7B1-44CD1B043E01}" destId="{15A17FE7-5F4B-401E-A9C8-C571E64CC538}" srcOrd="0" destOrd="0" presId="urn:microsoft.com/office/officeart/2016/7/layout/RepeatingBendingProcessNew"/>
    <dgm:cxn modelId="{C49273F3-9EA6-44E8-80B2-F9E239078666}" type="presParOf" srcId="{C54E62D9-00E2-45DC-9F0A-DB5A955324A9}" destId="{3C4E1602-95E6-4323-A0B5-53D98871AC76}" srcOrd="4" destOrd="0" presId="urn:microsoft.com/office/officeart/2016/7/layout/RepeatingBendingProcessNew"/>
    <dgm:cxn modelId="{2C162232-2251-420D-B74E-2F6ACCBCCFFC}" type="presParOf" srcId="{C54E62D9-00E2-45DC-9F0A-DB5A955324A9}" destId="{5860CD19-DAE9-4240-AB6E-60C09BE25E18}" srcOrd="5" destOrd="0" presId="urn:microsoft.com/office/officeart/2016/7/layout/RepeatingBendingProcessNew"/>
    <dgm:cxn modelId="{2C275335-22B2-411F-AE22-A4F962416183}" type="presParOf" srcId="{5860CD19-DAE9-4240-AB6E-60C09BE25E18}" destId="{33DFB872-E189-432D-AA1F-8FBE4E60E855}" srcOrd="0" destOrd="0" presId="urn:microsoft.com/office/officeart/2016/7/layout/RepeatingBendingProcessNew"/>
    <dgm:cxn modelId="{0F3AAB44-17A6-43EC-866D-0B927512249A}" type="presParOf" srcId="{C54E62D9-00E2-45DC-9F0A-DB5A955324A9}" destId="{30C9B354-5B6F-48E1-9E07-4090CA1B919B}" srcOrd="6" destOrd="0" presId="urn:microsoft.com/office/officeart/2016/7/layout/RepeatingBendingProcessNew"/>
    <dgm:cxn modelId="{8E650EB3-CDFE-49C8-A4C2-FB578F472A37}" type="presParOf" srcId="{C54E62D9-00E2-45DC-9F0A-DB5A955324A9}" destId="{FB90CDB0-8F81-4364-B75C-24FD73933822}" srcOrd="7" destOrd="0" presId="urn:microsoft.com/office/officeart/2016/7/layout/RepeatingBendingProcessNew"/>
    <dgm:cxn modelId="{E5BEF242-2090-4367-8891-FF4C4DDC6809}" type="presParOf" srcId="{FB90CDB0-8F81-4364-B75C-24FD73933822}" destId="{24D56DFA-1DE2-4DCF-9029-5766476B56C5}" srcOrd="0" destOrd="0" presId="urn:microsoft.com/office/officeart/2016/7/layout/RepeatingBendingProcessNew"/>
    <dgm:cxn modelId="{816E0451-52E3-4FA4-9F05-D0284ECFBEBE}" type="presParOf" srcId="{C54E62D9-00E2-45DC-9F0A-DB5A955324A9}" destId="{5B02F804-4F0D-405D-8ACC-4E42B8A8AB0B}" srcOrd="8" destOrd="0" presId="urn:microsoft.com/office/officeart/2016/7/layout/RepeatingBendingProcessNew"/>
    <dgm:cxn modelId="{146AD709-CC06-4D72-A925-D932D36D94F9}" type="presParOf" srcId="{C54E62D9-00E2-45DC-9F0A-DB5A955324A9}" destId="{E59E5C0B-CFEA-4388-A6D0-594FF8FC42FE}" srcOrd="9" destOrd="0" presId="urn:microsoft.com/office/officeart/2016/7/layout/RepeatingBendingProcessNew"/>
    <dgm:cxn modelId="{5BA596CC-A77B-476F-A16F-B2EBC4EE5275}" type="presParOf" srcId="{E59E5C0B-CFEA-4388-A6D0-594FF8FC42FE}" destId="{F5B1260C-6511-42A5-980E-E816A627B795}" srcOrd="0" destOrd="0" presId="urn:microsoft.com/office/officeart/2016/7/layout/RepeatingBendingProcessNew"/>
    <dgm:cxn modelId="{A06BDD7E-36FE-4B44-96BE-6809418D101C}" type="presParOf" srcId="{C54E62D9-00E2-45DC-9F0A-DB5A955324A9}" destId="{EBF3DFDC-7EE8-434E-9934-442C24BA59CC}" srcOrd="10" destOrd="0" presId="urn:microsoft.com/office/officeart/2016/7/layout/RepeatingBendingProcessNew"/>
    <dgm:cxn modelId="{05C66C04-6992-468C-BE74-7B1EB1497F3D}" type="presParOf" srcId="{C54E62D9-00E2-45DC-9F0A-DB5A955324A9}" destId="{9031E1AF-6FF0-4455-8CFE-DF720AD2377B}" srcOrd="11" destOrd="0" presId="urn:microsoft.com/office/officeart/2016/7/layout/RepeatingBendingProcessNew"/>
    <dgm:cxn modelId="{C0855149-D95F-4AD2-95AD-5CF93C3E2871}" type="presParOf" srcId="{9031E1AF-6FF0-4455-8CFE-DF720AD2377B}" destId="{3528C0DA-AD9C-4036-9C2B-8996489FD2E3}" srcOrd="0" destOrd="0" presId="urn:microsoft.com/office/officeart/2016/7/layout/RepeatingBendingProcessNew"/>
    <dgm:cxn modelId="{0A186EEE-10AB-4279-8B3C-E3F1F5AC9A5F}" type="presParOf" srcId="{C54E62D9-00E2-45DC-9F0A-DB5A955324A9}" destId="{C3B2EE10-A87E-416C-99BD-1F2E60FF54E6}" srcOrd="12" destOrd="0" presId="urn:microsoft.com/office/officeart/2016/7/layout/RepeatingBendingProcessNew"/>
    <dgm:cxn modelId="{8DE1556C-0ACB-4477-A764-25ACB726B769}" type="presParOf" srcId="{C54E62D9-00E2-45DC-9F0A-DB5A955324A9}" destId="{B5DFF75D-F169-4B53-93F2-D83B67DF942A}" srcOrd="13" destOrd="0" presId="urn:microsoft.com/office/officeart/2016/7/layout/RepeatingBendingProcessNew"/>
    <dgm:cxn modelId="{CFFE81C4-27CE-4EE4-AB4D-EE5FF93B82F9}" type="presParOf" srcId="{B5DFF75D-F169-4B53-93F2-D83B67DF942A}" destId="{F203D454-2845-42AC-A126-E33B6FE412E3}" srcOrd="0" destOrd="0" presId="urn:microsoft.com/office/officeart/2016/7/layout/RepeatingBendingProcessNew"/>
    <dgm:cxn modelId="{B307FFB8-15CD-4936-B589-9BC33E2FEE78}" type="presParOf" srcId="{C54E62D9-00E2-45DC-9F0A-DB5A955324A9}" destId="{F8AC9C3A-2325-4D53-84E7-4DAD03ECCA7E}" srcOrd="14"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86C2C4-C12A-4CF6-BBB8-DE1E8BE0793A}" type="doc">
      <dgm:prSet loTypeId="urn:microsoft.com/office/officeart/2005/8/layout/hierarchy3" loCatId="hierarchy" qsTypeId="urn:microsoft.com/office/officeart/2005/8/quickstyle/simple1" qsCatId="simple" csTypeId="urn:microsoft.com/office/officeart/2005/8/colors/colorful5" csCatId="colorful" phldr="1"/>
      <dgm:spPr/>
      <dgm:t>
        <a:bodyPr/>
        <a:lstStyle/>
        <a:p>
          <a:endParaRPr lang="en-US"/>
        </a:p>
      </dgm:t>
    </dgm:pt>
    <dgm:pt modelId="{AF4C9F60-0AAE-414E-AE03-7021AA3CDE02}">
      <dgm:prSet/>
      <dgm:spPr/>
      <dgm:t>
        <a:bodyPr/>
        <a:lstStyle/>
        <a:p>
          <a:r>
            <a:rPr lang="en-CA"/>
            <a:t>University Affordability/Access</a:t>
          </a:r>
          <a:endParaRPr lang="en-US"/>
        </a:p>
      </dgm:t>
    </dgm:pt>
    <dgm:pt modelId="{CA77CBFA-BB05-4FA0-B285-73BB2D7CDD19}" type="parTrans" cxnId="{0CD92CB2-D806-4A62-8A5E-7B3DEBB4512A}">
      <dgm:prSet/>
      <dgm:spPr/>
      <dgm:t>
        <a:bodyPr/>
        <a:lstStyle/>
        <a:p>
          <a:endParaRPr lang="en-US"/>
        </a:p>
      </dgm:t>
    </dgm:pt>
    <dgm:pt modelId="{EDF26DF1-464D-43E7-8C43-7160AFAA5184}" type="sibTrans" cxnId="{0CD92CB2-D806-4A62-8A5E-7B3DEBB4512A}">
      <dgm:prSet/>
      <dgm:spPr/>
      <dgm:t>
        <a:bodyPr/>
        <a:lstStyle/>
        <a:p>
          <a:endParaRPr lang="en-US"/>
        </a:p>
      </dgm:t>
    </dgm:pt>
    <dgm:pt modelId="{6B69E888-96B0-4E3C-9506-4897A33CF3A1}">
      <dgm:prSet/>
      <dgm:spPr/>
      <dgm:t>
        <a:bodyPr/>
        <a:lstStyle/>
        <a:p>
          <a:r>
            <a:rPr lang="en-US" dirty="0"/>
            <a:t>“Does the minister not realize that besides </a:t>
          </a:r>
          <a:r>
            <a:rPr lang="en-US" b="1" dirty="0"/>
            <a:t>doubling tuition fees</a:t>
          </a:r>
          <a:r>
            <a:rPr lang="en-US" dirty="0"/>
            <a:t>, his reform helps to double </a:t>
          </a:r>
          <a:r>
            <a:rPr lang="en-US" b="1" dirty="0"/>
            <a:t>students’ indebtedness</a:t>
          </a:r>
          <a:r>
            <a:rPr lang="en-US" dirty="0"/>
            <a:t>...?”</a:t>
          </a:r>
        </a:p>
      </dgm:t>
    </dgm:pt>
    <dgm:pt modelId="{AB362015-E624-4572-AB35-390A1334868A}" type="parTrans" cxnId="{768076CF-E526-4BA6-AFB3-40F603569C0C}">
      <dgm:prSet/>
      <dgm:spPr/>
      <dgm:t>
        <a:bodyPr/>
        <a:lstStyle/>
        <a:p>
          <a:endParaRPr lang="en-US"/>
        </a:p>
      </dgm:t>
    </dgm:pt>
    <dgm:pt modelId="{6037ED16-CE64-49F5-A52B-1E1CB9175900}" type="sibTrans" cxnId="{768076CF-E526-4BA6-AFB3-40F603569C0C}">
      <dgm:prSet/>
      <dgm:spPr/>
      <dgm:t>
        <a:bodyPr/>
        <a:lstStyle/>
        <a:p>
          <a:endParaRPr lang="en-US"/>
        </a:p>
      </dgm:t>
    </dgm:pt>
    <dgm:pt modelId="{1C208929-8077-4F7D-B134-6A3AFD485E52}">
      <dgm:prSet/>
      <dgm:spPr/>
      <dgm:t>
        <a:bodyPr/>
        <a:lstStyle/>
        <a:p>
          <a:r>
            <a:rPr lang="en-CA" dirty="0"/>
            <a:t>Skills/Training: </a:t>
          </a:r>
          <a:endParaRPr lang="en-US" dirty="0"/>
        </a:p>
      </dgm:t>
    </dgm:pt>
    <dgm:pt modelId="{E21042DD-1642-4CDF-8CE9-69E17C9A7A13}" type="parTrans" cxnId="{E52AA660-D25E-43AA-BEF0-794470B91CB5}">
      <dgm:prSet/>
      <dgm:spPr/>
      <dgm:t>
        <a:bodyPr/>
        <a:lstStyle/>
        <a:p>
          <a:endParaRPr lang="en-US"/>
        </a:p>
      </dgm:t>
    </dgm:pt>
    <dgm:pt modelId="{6F9F3A4E-5265-4123-AF60-9E0F6D647619}" type="sibTrans" cxnId="{E52AA660-D25E-43AA-BEF0-794470B91CB5}">
      <dgm:prSet/>
      <dgm:spPr/>
      <dgm:t>
        <a:bodyPr/>
        <a:lstStyle/>
        <a:p>
          <a:endParaRPr lang="en-US"/>
        </a:p>
      </dgm:t>
    </dgm:pt>
    <dgm:pt modelId="{9F59C5B2-4979-4729-B3DF-11D31FE71AF3}">
      <dgm:prSet/>
      <dgm:spPr/>
      <dgm:t>
        <a:bodyPr/>
        <a:lstStyle/>
        <a:p>
          <a:r>
            <a:rPr lang="en-US" dirty="0"/>
            <a:t>“They voted against increased </a:t>
          </a:r>
          <a:r>
            <a:rPr lang="en-US" b="1" dirty="0"/>
            <a:t>investments in job training.</a:t>
          </a:r>
          <a:r>
            <a:rPr lang="en-US" dirty="0"/>
            <a:t> They have voted against every constructive measure: the Canada </a:t>
          </a:r>
          <a:r>
            <a:rPr lang="en-US" b="1" dirty="0"/>
            <a:t>apprenticeship</a:t>
          </a:r>
          <a:r>
            <a:rPr lang="en-US" dirty="0"/>
            <a:t> loan, the Canada job grant, and the incentive grant </a:t>
          </a:r>
          <a:r>
            <a:rPr lang="en-US" b="1" dirty="0"/>
            <a:t>for new apprentices</a:t>
          </a:r>
          <a:r>
            <a:rPr lang="en-US" dirty="0"/>
            <a:t>….”</a:t>
          </a:r>
        </a:p>
      </dgm:t>
    </dgm:pt>
    <dgm:pt modelId="{FF18937B-2020-4298-A38F-FD245EF1DFDE}" type="parTrans" cxnId="{3B1683BA-D6D7-4C31-B17D-2FA495E950DC}">
      <dgm:prSet/>
      <dgm:spPr/>
      <dgm:t>
        <a:bodyPr/>
        <a:lstStyle/>
        <a:p>
          <a:endParaRPr lang="en-US"/>
        </a:p>
      </dgm:t>
    </dgm:pt>
    <dgm:pt modelId="{D7D7AB25-4BB7-44E9-A4EC-4870CCC5575D}" type="sibTrans" cxnId="{3B1683BA-D6D7-4C31-B17D-2FA495E950DC}">
      <dgm:prSet/>
      <dgm:spPr/>
      <dgm:t>
        <a:bodyPr/>
        <a:lstStyle/>
        <a:p>
          <a:endParaRPr lang="en-US"/>
        </a:p>
      </dgm:t>
    </dgm:pt>
    <dgm:pt modelId="{7A6BAEAD-F5F4-41DF-A1C1-6DDF6C08B6AA}">
      <dgm:prSet/>
      <dgm:spPr/>
      <dgm:t>
        <a:bodyPr/>
        <a:lstStyle/>
        <a:p>
          <a:r>
            <a:rPr lang="en-CA" dirty="0"/>
            <a:t>Early Learning/Childcare: </a:t>
          </a:r>
          <a:endParaRPr lang="en-US" dirty="0"/>
        </a:p>
      </dgm:t>
    </dgm:pt>
    <dgm:pt modelId="{A54A4E93-4AE9-4929-B303-8A29069AC638}" type="parTrans" cxnId="{34B5B953-9745-42B7-8393-EDD550475F54}">
      <dgm:prSet/>
      <dgm:spPr/>
      <dgm:t>
        <a:bodyPr/>
        <a:lstStyle/>
        <a:p>
          <a:endParaRPr lang="en-US"/>
        </a:p>
      </dgm:t>
    </dgm:pt>
    <dgm:pt modelId="{3D3FC00D-56B9-4296-9035-DB5DB15EF725}" type="sibTrans" cxnId="{34B5B953-9745-42B7-8393-EDD550475F54}">
      <dgm:prSet/>
      <dgm:spPr/>
      <dgm:t>
        <a:bodyPr/>
        <a:lstStyle/>
        <a:p>
          <a:endParaRPr lang="en-US"/>
        </a:p>
      </dgm:t>
    </dgm:pt>
    <dgm:pt modelId="{0E8A2929-C5B6-446C-8173-700FFDDC97AF}">
      <dgm:prSet/>
      <dgm:spPr/>
      <dgm:t>
        <a:bodyPr/>
        <a:lstStyle/>
        <a:p>
          <a:r>
            <a:rPr lang="en-US" dirty="0"/>
            <a:t>“As a result of </a:t>
          </a:r>
          <a:r>
            <a:rPr lang="en-US" b="1" dirty="0"/>
            <a:t>the early learning and childcare </a:t>
          </a:r>
          <a:r>
            <a:rPr lang="en-US" dirty="0"/>
            <a:t>agreement signed with Ontario, Halton will receive 500 new spaces over the next three years. The </a:t>
          </a:r>
          <a:r>
            <a:rPr lang="en-US" b="1" dirty="0"/>
            <a:t>childcare spaces </a:t>
          </a:r>
          <a:r>
            <a:rPr lang="en-US" dirty="0"/>
            <a:t>will primarily be located in or near schools so that junior and senior </a:t>
          </a:r>
          <a:r>
            <a:rPr lang="en-US" b="1" dirty="0"/>
            <a:t>kindergarten student</a:t>
          </a:r>
          <a:r>
            <a:rPr lang="en-US" dirty="0"/>
            <a:t>s can benefit from a seamless full day of learning and </a:t>
          </a:r>
          <a:r>
            <a:rPr lang="en-US" b="1" dirty="0"/>
            <a:t>childcare</a:t>
          </a:r>
          <a:r>
            <a:rPr lang="en-US" dirty="0"/>
            <a:t>….”</a:t>
          </a:r>
        </a:p>
      </dgm:t>
    </dgm:pt>
    <dgm:pt modelId="{01FF2630-3FEB-49CB-94F4-03307432533A}" type="parTrans" cxnId="{49973A00-2D5C-43BA-BB0B-EB4D7A1F1ADD}">
      <dgm:prSet/>
      <dgm:spPr/>
      <dgm:t>
        <a:bodyPr/>
        <a:lstStyle/>
        <a:p>
          <a:endParaRPr lang="en-US"/>
        </a:p>
      </dgm:t>
    </dgm:pt>
    <dgm:pt modelId="{A05127B4-45A9-4A0B-BCE0-AD83A42DA2A2}" type="sibTrans" cxnId="{49973A00-2D5C-43BA-BB0B-EB4D7A1F1ADD}">
      <dgm:prSet/>
      <dgm:spPr/>
      <dgm:t>
        <a:bodyPr/>
        <a:lstStyle/>
        <a:p>
          <a:endParaRPr lang="en-US"/>
        </a:p>
      </dgm:t>
    </dgm:pt>
    <dgm:pt modelId="{6E5AA9FF-6349-45AA-839F-BF015E8679DF}" type="pres">
      <dgm:prSet presAssocID="{3486C2C4-C12A-4CF6-BBB8-DE1E8BE0793A}" presName="diagram" presStyleCnt="0">
        <dgm:presLayoutVars>
          <dgm:chPref val="1"/>
          <dgm:dir/>
          <dgm:animOne val="branch"/>
          <dgm:animLvl val="lvl"/>
          <dgm:resizeHandles/>
        </dgm:presLayoutVars>
      </dgm:prSet>
      <dgm:spPr/>
    </dgm:pt>
    <dgm:pt modelId="{DFBC35AA-E2E6-46FD-AF8E-834E0C79D4A0}" type="pres">
      <dgm:prSet presAssocID="{AF4C9F60-0AAE-414E-AE03-7021AA3CDE02}" presName="root" presStyleCnt="0"/>
      <dgm:spPr/>
    </dgm:pt>
    <dgm:pt modelId="{FC59DBD5-D44B-4183-ABA1-E0ED531F4460}" type="pres">
      <dgm:prSet presAssocID="{AF4C9F60-0AAE-414E-AE03-7021AA3CDE02}" presName="rootComposite" presStyleCnt="0"/>
      <dgm:spPr/>
    </dgm:pt>
    <dgm:pt modelId="{03ADFD6D-2FE6-4CC8-AD57-9D4C88FACA0C}" type="pres">
      <dgm:prSet presAssocID="{AF4C9F60-0AAE-414E-AE03-7021AA3CDE02}" presName="rootText" presStyleLbl="node1" presStyleIdx="0" presStyleCnt="3"/>
      <dgm:spPr/>
    </dgm:pt>
    <dgm:pt modelId="{4186BD0B-2792-44EE-B41E-5E9B1AD690C7}" type="pres">
      <dgm:prSet presAssocID="{AF4C9F60-0AAE-414E-AE03-7021AA3CDE02}" presName="rootConnector" presStyleLbl="node1" presStyleIdx="0" presStyleCnt="3"/>
      <dgm:spPr/>
    </dgm:pt>
    <dgm:pt modelId="{56EA5A66-1C31-405B-8FFE-0CF2049BAD41}" type="pres">
      <dgm:prSet presAssocID="{AF4C9F60-0AAE-414E-AE03-7021AA3CDE02}" presName="childShape" presStyleCnt="0"/>
      <dgm:spPr/>
    </dgm:pt>
    <dgm:pt modelId="{3AD74127-C24A-4C20-BD55-58D4B72FFE7F}" type="pres">
      <dgm:prSet presAssocID="{AB362015-E624-4572-AB35-390A1334868A}" presName="Name13" presStyleLbl="parChTrans1D2" presStyleIdx="0" presStyleCnt="3"/>
      <dgm:spPr/>
    </dgm:pt>
    <dgm:pt modelId="{5BA6D9A1-00A8-4FB7-A07C-7CBBB2ECB93C}" type="pres">
      <dgm:prSet presAssocID="{6B69E888-96B0-4E3C-9506-4897A33CF3A1}" presName="childText" presStyleLbl="bgAcc1" presStyleIdx="0" presStyleCnt="3">
        <dgm:presLayoutVars>
          <dgm:bulletEnabled val="1"/>
        </dgm:presLayoutVars>
      </dgm:prSet>
      <dgm:spPr/>
    </dgm:pt>
    <dgm:pt modelId="{603AF69F-B747-4AC1-988D-4119B2812B53}" type="pres">
      <dgm:prSet presAssocID="{1C208929-8077-4F7D-B134-6A3AFD485E52}" presName="root" presStyleCnt="0"/>
      <dgm:spPr/>
    </dgm:pt>
    <dgm:pt modelId="{B428504F-4A27-4398-82D2-88470EAEEDF9}" type="pres">
      <dgm:prSet presAssocID="{1C208929-8077-4F7D-B134-6A3AFD485E52}" presName="rootComposite" presStyleCnt="0"/>
      <dgm:spPr/>
    </dgm:pt>
    <dgm:pt modelId="{57500299-AA77-44ED-BE44-E137237326DE}" type="pres">
      <dgm:prSet presAssocID="{1C208929-8077-4F7D-B134-6A3AFD485E52}" presName="rootText" presStyleLbl="node1" presStyleIdx="1" presStyleCnt="3"/>
      <dgm:spPr/>
    </dgm:pt>
    <dgm:pt modelId="{459CD82F-9922-4B47-BC42-4DBDB039E806}" type="pres">
      <dgm:prSet presAssocID="{1C208929-8077-4F7D-B134-6A3AFD485E52}" presName="rootConnector" presStyleLbl="node1" presStyleIdx="1" presStyleCnt="3"/>
      <dgm:spPr/>
    </dgm:pt>
    <dgm:pt modelId="{33D3994D-ED6E-4631-A463-05C89B161DD2}" type="pres">
      <dgm:prSet presAssocID="{1C208929-8077-4F7D-B134-6A3AFD485E52}" presName="childShape" presStyleCnt="0"/>
      <dgm:spPr/>
    </dgm:pt>
    <dgm:pt modelId="{9F659831-95AD-4887-95AE-B52A54D43BA2}" type="pres">
      <dgm:prSet presAssocID="{FF18937B-2020-4298-A38F-FD245EF1DFDE}" presName="Name13" presStyleLbl="parChTrans1D2" presStyleIdx="1" presStyleCnt="3"/>
      <dgm:spPr/>
    </dgm:pt>
    <dgm:pt modelId="{5974573B-C350-4F01-8B50-22D68BB2A623}" type="pres">
      <dgm:prSet presAssocID="{9F59C5B2-4979-4729-B3DF-11D31FE71AF3}" presName="childText" presStyleLbl="bgAcc1" presStyleIdx="1" presStyleCnt="3">
        <dgm:presLayoutVars>
          <dgm:bulletEnabled val="1"/>
        </dgm:presLayoutVars>
      </dgm:prSet>
      <dgm:spPr/>
    </dgm:pt>
    <dgm:pt modelId="{D4BB5F03-5EDA-4131-8975-86DCEB4A6AFF}" type="pres">
      <dgm:prSet presAssocID="{7A6BAEAD-F5F4-41DF-A1C1-6DDF6C08B6AA}" presName="root" presStyleCnt="0"/>
      <dgm:spPr/>
    </dgm:pt>
    <dgm:pt modelId="{17057A54-49BF-42AE-8200-47A092ABFAFD}" type="pres">
      <dgm:prSet presAssocID="{7A6BAEAD-F5F4-41DF-A1C1-6DDF6C08B6AA}" presName="rootComposite" presStyleCnt="0"/>
      <dgm:spPr/>
    </dgm:pt>
    <dgm:pt modelId="{78B915BE-3B0B-47C1-B3E0-17689137946E}" type="pres">
      <dgm:prSet presAssocID="{7A6BAEAD-F5F4-41DF-A1C1-6DDF6C08B6AA}" presName="rootText" presStyleLbl="node1" presStyleIdx="2" presStyleCnt="3"/>
      <dgm:spPr/>
    </dgm:pt>
    <dgm:pt modelId="{C2CAC503-402A-443B-9E27-EDF5C2B83F93}" type="pres">
      <dgm:prSet presAssocID="{7A6BAEAD-F5F4-41DF-A1C1-6DDF6C08B6AA}" presName="rootConnector" presStyleLbl="node1" presStyleIdx="2" presStyleCnt="3"/>
      <dgm:spPr/>
    </dgm:pt>
    <dgm:pt modelId="{D487CE36-9848-4A21-9DC3-3830947C0E3A}" type="pres">
      <dgm:prSet presAssocID="{7A6BAEAD-F5F4-41DF-A1C1-6DDF6C08B6AA}" presName="childShape" presStyleCnt="0"/>
      <dgm:spPr/>
    </dgm:pt>
    <dgm:pt modelId="{0BB319CC-0FEE-40EA-9AF1-2910DE605E9C}" type="pres">
      <dgm:prSet presAssocID="{01FF2630-3FEB-49CB-94F4-03307432533A}" presName="Name13" presStyleLbl="parChTrans1D2" presStyleIdx="2" presStyleCnt="3"/>
      <dgm:spPr/>
    </dgm:pt>
    <dgm:pt modelId="{DF5EE4C4-7D7D-4D45-A08B-3998DB79BAC5}" type="pres">
      <dgm:prSet presAssocID="{0E8A2929-C5B6-446C-8173-700FFDDC97AF}" presName="childText" presStyleLbl="bgAcc1" presStyleIdx="2" presStyleCnt="3">
        <dgm:presLayoutVars>
          <dgm:bulletEnabled val="1"/>
        </dgm:presLayoutVars>
      </dgm:prSet>
      <dgm:spPr/>
    </dgm:pt>
  </dgm:ptLst>
  <dgm:cxnLst>
    <dgm:cxn modelId="{49973A00-2D5C-43BA-BB0B-EB4D7A1F1ADD}" srcId="{7A6BAEAD-F5F4-41DF-A1C1-6DDF6C08B6AA}" destId="{0E8A2929-C5B6-446C-8173-700FFDDC97AF}" srcOrd="0" destOrd="0" parTransId="{01FF2630-3FEB-49CB-94F4-03307432533A}" sibTransId="{A05127B4-45A9-4A0B-BCE0-AD83A42DA2A2}"/>
    <dgm:cxn modelId="{102B3802-7317-40ED-96BB-2F2C8E4B5A4A}" type="presOf" srcId="{01FF2630-3FEB-49CB-94F4-03307432533A}" destId="{0BB319CC-0FEE-40EA-9AF1-2910DE605E9C}" srcOrd="0" destOrd="0" presId="urn:microsoft.com/office/officeart/2005/8/layout/hierarchy3"/>
    <dgm:cxn modelId="{B4D84E2B-8F5D-49D6-8061-C7E4B865E4A3}" type="presOf" srcId="{AF4C9F60-0AAE-414E-AE03-7021AA3CDE02}" destId="{03ADFD6D-2FE6-4CC8-AD57-9D4C88FACA0C}" srcOrd="0" destOrd="0" presId="urn:microsoft.com/office/officeart/2005/8/layout/hierarchy3"/>
    <dgm:cxn modelId="{6E9F303B-AAD4-4D0E-A2D8-C4A7C6597BA4}" type="presOf" srcId="{AF4C9F60-0AAE-414E-AE03-7021AA3CDE02}" destId="{4186BD0B-2792-44EE-B41E-5E9B1AD690C7}" srcOrd="1" destOrd="0" presId="urn:microsoft.com/office/officeart/2005/8/layout/hierarchy3"/>
    <dgm:cxn modelId="{E52AA660-D25E-43AA-BEF0-794470B91CB5}" srcId="{3486C2C4-C12A-4CF6-BBB8-DE1E8BE0793A}" destId="{1C208929-8077-4F7D-B134-6A3AFD485E52}" srcOrd="1" destOrd="0" parTransId="{E21042DD-1642-4CDF-8CE9-69E17C9A7A13}" sibTransId="{6F9F3A4E-5265-4123-AF60-9E0F6D647619}"/>
    <dgm:cxn modelId="{2E49B160-3E14-48CF-A715-534C2DD51423}" type="presOf" srcId="{7A6BAEAD-F5F4-41DF-A1C1-6DDF6C08B6AA}" destId="{78B915BE-3B0B-47C1-B3E0-17689137946E}" srcOrd="0" destOrd="0" presId="urn:microsoft.com/office/officeart/2005/8/layout/hierarchy3"/>
    <dgm:cxn modelId="{A7543A47-0AA6-420E-BA6F-3B3D172E5C8B}" type="presOf" srcId="{1C208929-8077-4F7D-B134-6A3AFD485E52}" destId="{459CD82F-9922-4B47-BC42-4DBDB039E806}" srcOrd="1" destOrd="0" presId="urn:microsoft.com/office/officeart/2005/8/layout/hierarchy3"/>
    <dgm:cxn modelId="{681C8171-185C-40F0-907B-8DDD56CDBBD8}" type="presOf" srcId="{0E8A2929-C5B6-446C-8173-700FFDDC97AF}" destId="{DF5EE4C4-7D7D-4D45-A08B-3998DB79BAC5}" srcOrd="0" destOrd="0" presId="urn:microsoft.com/office/officeart/2005/8/layout/hierarchy3"/>
    <dgm:cxn modelId="{34B5B953-9745-42B7-8393-EDD550475F54}" srcId="{3486C2C4-C12A-4CF6-BBB8-DE1E8BE0793A}" destId="{7A6BAEAD-F5F4-41DF-A1C1-6DDF6C08B6AA}" srcOrd="2" destOrd="0" parTransId="{A54A4E93-4AE9-4929-B303-8A29069AC638}" sibTransId="{3D3FC00D-56B9-4296-9035-DB5DB15EF725}"/>
    <dgm:cxn modelId="{BC992A9E-0E84-42C9-B925-442945AC65B8}" type="presOf" srcId="{9F59C5B2-4979-4729-B3DF-11D31FE71AF3}" destId="{5974573B-C350-4F01-8B50-22D68BB2A623}" srcOrd="0" destOrd="0" presId="urn:microsoft.com/office/officeart/2005/8/layout/hierarchy3"/>
    <dgm:cxn modelId="{7C880BB0-A2CF-4E8D-9881-834B236B5B72}" type="presOf" srcId="{3486C2C4-C12A-4CF6-BBB8-DE1E8BE0793A}" destId="{6E5AA9FF-6349-45AA-839F-BF015E8679DF}" srcOrd="0" destOrd="0" presId="urn:microsoft.com/office/officeart/2005/8/layout/hierarchy3"/>
    <dgm:cxn modelId="{0CD92CB2-D806-4A62-8A5E-7B3DEBB4512A}" srcId="{3486C2C4-C12A-4CF6-BBB8-DE1E8BE0793A}" destId="{AF4C9F60-0AAE-414E-AE03-7021AA3CDE02}" srcOrd="0" destOrd="0" parTransId="{CA77CBFA-BB05-4FA0-B285-73BB2D7CDD19}" sibTransId="{EDF26DF1-464D-43E7-8C43-7160AFAA5184}"/>
    <dgm:cxn modelId="{9445A1B6-C2DD-40C2-A2A8-B717F58B658A}" type="presOf" srcId="{FF18937B-2020-4298-A38F-FD245EF1DFDE}" destId="{9F659831-95AD-4887-95AE-B52A54D43BA2}" srcOrd="0" destOrd="0" presId="urn:microsoft.com/office/officeart/2005/8/layout/hierarchy3"/>
    <dgm:cxn modelId="{2A4A1BB9-9D91-4EB4-8378-271745F18D19}" type="presOf" srcId="{6B69E888-96B0-4E3C-9506-4897A33CF3A1}" destId="{5BA6D9A1-00A8-4FB7-A07C-7CBBB2ECB93C}" srcOrd="0" destOrd="0" presId="urn:microsoft.com/office/officeart/2005/8/layout/hierarchy3"/>
    <dgm:cxn modelId="{3B1683BA-D6D7-4C31-B17D-2FA495E950DC}" srcId="{1C208929-8077-4F7D-B134-6A3AFD485E52}" destId="{9F59C5B2-4979-4729-B3DF-11D31FE71AF3}" srcOrd="0" destOrd="0" parTransId="{FF18937B-2020-4298-A38F-FD245EF1DFDE}" sibTransId="{D7D7AB25-4BB7-44E9-A4EC-4870CCC5575D}"/>
    <dgm:cxn modelId="{768076CF-E526-4BA6-AFB3-40F603569C0C}" srcId="{AF4C9F60-0AAE-414E-AE03-7021AA3CDE02}" destId="{6B69E888-96B0-4E3C-9506-4897A33CF3A1}" srcOrd="0" destOrd="0" parTransId="{AB362015-E624-4572-AB35-390A1334868A}" sibTransId="{6037ED16-CE64-49F5-A52B-1E1CB9175900}"/>
    <dgm:cxn modelId="{944EEBCF-29BF-47D6-9772-B040BECB28D3}" type="presOf" srcId="{7A6BAEAD-F5F4-41DF-A1C1-6DDF6C08B6AA}" destId="{C2CAC503-402A-443B-9E27-EDF5C2B83F93}" srcOrd="1" destOrd="0" presId="urn:microsoft.com/office/officeart/2005/8/layout/hierarchy3"/>
    <dgm:cxn modelId="{7383B3DC-C5DD-4369-ACD7-D83E0CD5AB48}" type="presOf" srcId="{AB362015-E624-4572-AB35-390A1334868A}" destId="{3AD74127-C24A-4C20-BD55-58D4B72FFE7F}" srcOrd="0" destOrd="0" presId="urn:microsoft.com/office/officeart/2005/8/layout/hierarchy3"/>
    <dgm:cxn modelId="{D01C04F0-DB8B-416E-8B3E-C3D2EB9A133A}" type="presOf" srcId="{1C208929-8077-4F7D-B134-6A3AFD485E52}" destId="{57500299-AA77-44ED-BE44-E137237326DE}" srcOrd="0" destOrd="0" presId="urn:microsoft.com/office/officeart/2005/8/layout/hierarchy3"/>
    <dgm:cxn modelId="{A76FBF06-E677-4FFE-B777-182298191AE2}" type="presParOf" srcId="{6E5AA9FF-6349-45AA-839F-BF015E8679DF}" destId="{DFBC35AA-E2E6-46FD-AF8E-834E0C79D4A0}" srcOrd="0" destOrd="0" presId="urn:microsoft.com/office/officeart/2005/8/layout/hierarchy3"/>
    <dgm:cxn modelId="{FF17806A-57FD-459A-BBBA-F4A8D129A8AC}" type="presParOf" srcId="{DFBC35AA-E2E6-46FD-AF8E-834E0C79D4A0}" destId="{FC59DBD5-D44B-4183-ABA1-E0ED531F4460}" srcOrd="0" destOrd="0" presId="urn:microsoft.com/office/officeart/2005/8/layout/hierarchy3"/>
    <dgm:cxn modelId="{F29ECB51-2E0E-4372-B8D6-B2F87ED2BC16}" type="presParOf" srcId="{FC59DBD5-D44B-4183-ABA1-E0ED531F4460}" destId="{03ADFD6D-2FE6-4CC8-AD57-9D4C88FACA0C}" srcOrd="0" destOrd="0" presId="urn:microsoft.com/office/officeart/2005/8/layout/hierarchy3"/>
    <dgm:cxn modelId="{C4ECFA02-F7A0-444E-AF5E-36AA8BB9E370}" type="presParOf" srcId="{FC59DBD5-D44B-4183-ABA1-E0ED531F4460}" destId="{4186BD0B-2792-44EE-B41E-5E9B1AD690C7}" srcOrd="1" destOrd="0" presId="urn:microsoft.com/office/officeart/2005/8/layout/hierarchy3"/>
    <dgm:cxn modelId="{081FD556-0CED-4161-9DF0-410A3A2E949D}" type="presParOf" srcId="{DFBC35AA-E2E6-46FD-AF8E-834E0C79D4A0}" destId="{56EA5A66-1C31-405B-8FFE-0CF2049BAD41}" srcOrd="1" destOrd="0" presId="urn:microsoft.com/office/officeart/2005/8/layout/hierarchy3"/>
    <dgm:cxn modelId="{691F7769-68FD-43AB-A497-5DD508138BCE}" type="presParOf" srcId="{56EA5A66-1C31-405B-8FFE-0CF2049BAD41}" destId="{3AD74127-C24A-4C20-BD55-58D4B72FFE7F}" srcOrd="0" destOrd="0" presId="urn:microsoft.com/office/officeart/2005/8/layout/hierarchy3"/>
    <dgm:cxn modelId="{D2F8723A-B52A-43AC-9D2B-A9AD2739B780}" type="presParOf" srcId="{56EA5A66-1C31-405B-8FFE-0CF2049BAD41}" destId="{5BA6D9A1-00A8-4FB7-A07C-7CBBB2ECB93C}" srcOrd="1" destOrd="0" presId="urn:microsoft.com/office/officeart/2005/8/layout/hierarchy3"/>
    <dgm:cxn modelId="{D56596A8-6FC0-4D5B-AB26-333347FE71A2}" type="presParOf" srcId="{6E5AA9FF-6349-45AA-839F-BF015E8679DF}" destId="{603AF69F-B747-4AC1-988D-4119B2812B53}" srcOrd="1" destOrd="0" presId="urn:microsoft.com/office/officeart/2005/8/layout/hierarchy3"/>
    <dgm:cxn modelId="{49E64D6A-340C-4CD2-8345-874BAD3C7727}" type="presParOf" srcId="{603AF69F-B747-4AC1-988D-4119B2812B53}" destId="{B428504F-4A27-4398-82D2-88470EAEEDF9}" srcOrd="0" destOrd="0" presId="urn:microsoft.com/office/officeart/2005/8/layout/hierarchy3"/>
    <dgm:cxn modelId="{A3C06188-CE48-4DDB-B92E-D496DDE5CD37}" type="presParOf" srcId="{B428504F-4A27-4398-82D2-88470EAEEDF9}" destId="{57500299-AA77-44ED-BE44-E137237326DE}" srcOrd="0" destOrd="0" presId="urn:microsoft.com/office/officeart/2005/8/layout/hierarchy3"/>
    <dgm:cxn modelId="{880196D8-2296-4BEB-88DF-5CC102D2D2FF}" type="presParOf" srcId="{B428504F-4A27-4398-82D2-88470EAEEDF9}" destId="{459CD82F-9922-4B47-BC42-4DBDB039E806}" srcOrd="1" destOrd="0" presId="urn:microsoft.com/office/officeart/2005/8/layout/hierarchy3"/>
    <dgm:cxn modelId="{4FD56453-0691-4E32-AC66-7681FF4A9E8D}" type="presParOf" srcId="{603AF69F-B747-4AC1-988D-4119B2812B53}" destId="{33D3994D-ED6E-4631-A463-05C89B161DD2}" srcOrd="1" destOrd="0" presId="urn:microsoft.com/office/officeart/2005/8/layout/hierarchy3"/>
    <dgm:cxn modelId="{AC2EBA5A-5E60-42C8-ABDA-006C6DD28302}" type="presParOf" srcId="{33D3994D-ED6E-4631-A463-05C89B161DD2}" destId="{9F659831-95AD-4887-95AE-B52A54D43BA2}" srcOrd="0" destOrd="0" presId="urn:microsoft.com/office/officeart/2005/8/layout/hierarchy3"/>
    <dgm:cxn modelId="{CAB4F7CF-453A-434C-9AF5-FE274015329F}" type="presParOf" srcId="{33D3994D-ED6E-4631-A463-05C89B161DD2}" destId="{5974573B-C350-4F01-8B50-22D68BB2A623}" srcOrd="1" destOrd="0" presId="urn:microsoft.com/office/officeart/2005/8/layout/hierarchy3"/>
    <dgm:cxn modelId="{232A2682-B386-44DB-B966-604215D077D9}" type="presParOf" srcId="{6E5AA9FF-6349-45AA-839F-BF015E8679DF}" destId="{D4BB5F03-5EDA-4131-8975-86DCEB4A6AFF}" srcOrd="2" destOrd="0" presId="urn:microsoft.com/office/officeart/2005/8/layout/hierarchy3"/>
    <dgm:cxn modelId="{7D281B89-7E55-4E62-8C55-DE9CA57DEECC}" type="presParOf" srcId="{D4BB5F03-5EDA-4131-8975-86DCEB4A6AFF}" destId="{17057A54-49BF-42AE-8200-47A092ABFAFD}" srcOrd="0" destOrd="0" presId="urn:microsoft.com/office/officeart/2005/8/layout/hierarchy3"/>
    <dgm:cxn modelId="{BF6B8508-3AE1-4340-BAE5-57A50E48F413}" type="presParOf" srcId="{17057A54-49BF-42AE-8200-47A092ABFAFD}" destId="{78B915BE-3B0B-47C1-B3E0-17689137946E}" srcOrd="0" destOrd="0" presId="urn:microsoft.com/office/officeart/2005/8/layout/hierarchy3"/>
    <dgm:cxn modelId="{F2EDACFA-A625-4D9F-979B-9FEC85669974}" type="presParOf" srcId="{17057A54-49BF-42AE-8200-47A092ABFAFD}" destId="{C2CAC503-402A-443B-9E27-EDF5C2B83F93}" srcOrd="1" destOrd="0" presId="urn:microsoft.com/office/officeart/2005/8/layout/hierarchy3"/>
    <dgm:cxn modelId="{D5FEE482-ECEA-4F12-AD6D-93E612F74338}" type="presParOf" srcId="{D4BB5F03-5EDA-4131-8975-86DCEB4A6AFF}" destId="{D487CE36-9848-4A21-9DC3-3830947C0E3A}" srcOrd="1" destOrd="0" presId="urn:microsoft.com/office/officeart/2005/8/layout/hierarchy3"/>
    <dgm:cxn modelId="{A695750C-5AFD-4910-9A7D-5A35940F2889}" type="presParOf" srcId="{D487CE36-9848-4A21-9DC3-3830947C0E3A}" destId="{0BB319CC-0FEE-40EA-9AF1-2910DE605E9C}" srcOrd="0" destOrd="0" presId="urn:microsoft.com/office/officeart/2005/8/layout/hierarchy3"/>
    <dgm:cxn modelId="{818855FA-F1FE-426F-A47C-DDD61562718E}" type="presParOf" srcId="{D487CE36-9848-4A21-9DC3-3830947C0E3A}" destId="{DF5EE4C4-7D7D-4D45-A08B-3998DB79BAC5}"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DD8A70-7D5A-4351-8FAD-31BEF4FD3BB4}">
      <dsp:nvSpPr>
        <dsp:cNvPr id="0" name=""/>
        <dsp:cNvSpPr/>
      </dsp:nvSpPr>
      <dsp:spPr>
        <a:xfrm>
          <a:off x="2241532" y="1202927"/>
          <a:ext cx="484885" cy="91440"/>
        </a:xfrm>
        <a:custGeom>
          <a:avLst/>
          <a:gdLst/>
          <a:ahLst/>
          <a:cxnLst/>
          <a:rect l="0" t="0" r="0" b="0"/>
          <a:pathLst>
            <a:path>
              <a:moveTo>
                <a:pt x="0" y="45720"/>
              </a:moveTo>
              <a:lnTo>
                <a:pt x="484885"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1087" y="1246069"/>
        <a:ext cx="25774" cy="5154"/>
      </dsp:txXfrm>
    </dsp:sp>
    <dsp:sp modelId="{A4058170-BCB2-4BB2-B461-B89183BDAC3C}">
      <dsp:nvSpPr>
        <dsp:cNvPr id="0" name=""/>
        <dsp:cNvSpPr/>
      </dsp:nvSpPr>
      <dsp:spPr>
        <a:xfrm>
          <a:off x="2092" y="576275"/>
          <a:ext cx="2241239" cy="1344743"/>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kern="1200" dirty="0"/>
            <a:t>Sampled raw Hansard speech files</a:t>
          </a:r>
        </a:p>
      </dsp:txBody>
      <dsp:txXfrm>
        <a:off x="2092" y="576275"/>
        <a:ext cx="2241239" cy="1344743"/>
      </dsp:txXfrm>
    </dsp:sp>
    <dsp:sp modelId="{DD7BC0CE-FD46-4E9D-B7B1-44CD1B043E01}">
      <dsp:nvSpPr>
        <dsp:cNvPr id="0" name=""/>
        <dsp:cNvSpPr/>
      </dsp:nvSpPr>
      <dsp:spPr>
        <a:xfrm>
          <a:off x="4998257" y="1202927"/>
          <a:ext cx="484885" cy="91440"/>
        </a:xfrm>
        <a:custGeom>
          <a:avLst/>
          <a:gdLst/>
          <a:ahLst/>
          <a:cxnLst/>
          <a:rect l="0" t="0" r="0" b="0"/>
          <a:pathLst>
            <a:path>
              <a:moveTo>
                <a:pt x="0" y="45720"/>
              </a:moveTo>
              <a:lnTo>
                <a:pt x="484885" y="45720"/>
              </a:lnTo>
            </a:path>
          </a:pathLst>
        </a:custGeom>
        <a:noFill/>
        <a:ln w="12700" cap="flat" cmpd="sng" algn="ctr">
          <a:solidFill>
            <a:schemeClr val="accent5">
              <a:hueOff val="-2025358"/>
              <a:satOff val="-138"/>
              <a:lumOff val="32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5227812" y="1246069"/>
        <a:ext cx="25774" cy="5154"/>
      </dsp:txXfrm>
    </dsp:sp>
    <dsp:sp modelId="{FE91CB53-8EA4-4E7F-89A9-F6C1C6EEFE98}">
      <dsp:nvSpPr>
        <dsp:cNvPr id="0" name=""/>
        <dsp:cNvSpPr/>
      </dsp:nvSpPr>
      <dsp:spPr>
        <a:xfrm>
          <a:off x="2758817" y="576275"/>
          <a:ext cx="2241239" cy="1344743"/>
        </a:xfrm>
        <a:prstGeom prst="rect">
          <a:avLst/>
        </a:prstGeom>
        <a:solidFill>
          <a:schemeClr val="accent5">
            <a:hueOff val="-1736021"/>
            <a:satOff val="-118"/>
            <a:lumOff val="28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kern="1200"/>
            <a:t>Built a master sample (1,312,018 speeches)</a:t>
          </a:r>
          <a:endParaRPr lang="en-US" sz="1900" kern="1200" dirty="0"/>
        </a:p>
      </dsp:txBody>
      <dsp:txXfrm>
        <a:off x="2758817" y="576275"/>
        <a:ext cx="2241239" cy="1344743"/>
      </dsp:txXfrm>
    </dsp:sp>
    <dsp:sp modelId="{5860CD19-DAE9-4240-AB6E-60C09BE25E18}">
      <dsp:nvSpPr>
        <dsp:cNvPr id="0" name=""/>
        <dsp:cNvSpPr/>
      </dsp:nvSpPr>
      <dsp:spPr>
        <a:xfrm>
          <a:off x="7754982" y="1202927"/>
          <a:ext cx="484885" cy="91440"/>
        </a:xfrm>
        <a:custGeom>
          <a:avLst/>
          <a:gdLst/>
          <a:ahLst/>
          <a:cxnLst/>
          <a:rect l="0" t="0" r="0" b="0"/>
          <a:pathLst>
            <a:path>
              <a:moveTo>
                <a:pt x="0" y="45720"/>
              </a:moveTo>
              <a:lnTo>
                <a:pt x="484885" y="45720"/>
              </a:lnTo>
            </a:path>
          </a:pathLst>
        </a:custGeom>
        <a:noFill/>
        <a:ln w="12700" cap="flat" cmpd="sng" algn="ctr">
          <a:solidFill>
            <a:schemeClr val="accent5">
              <a:hueOff val="-4050717"/>
              <a:satOff val="-275"/>
              <a:lumOff val="65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984537" y="1246069"/>
        <a:ext cx="25774" cy="5154"/>
      </dsp:txXfrm>
    </dsp:sp>
    <dsp:sp modelId="{3C4E1602-95E6-4323-A0B5-53D98871AC76}">
      <dsp:nvSpPr>
        <dsp:cNvPr id="0" name=""/>
        <dsp:cNvSpPr/>
      </dsp:nvSpPr>
      <dsp:spPr>
        <a:xfrm>
          <a:off x="5515542" y="576275"/>
          <a:ext cx="2241239" cy="1344743"/>
        </a:xfrm>
        <a:prstGeom prst="rect">
          <a:avLst/>
        </a:prstGeom>
        <a:solidFill>
          <a:schemeClr val="accent5">
            <a:hueOff val="-3472043"/>
            <a:satOff val="-236"/>
            <a:lumOff val="56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kern="1200" dirty="0"/>
            <a:t>Applied education keyword filter (60,8333 speeches)</a:t>
          </a:r>
        </a:p>
      </dsp:txBody>
      <dsp:txXfrm>
        <a:off x="5515542" y="576275"/>
        <a:ext cx="2241239" cy="1344743"/>
      </dsp:txXfrm>
    </dsp:sp>
    <dsp:sp modelId="{FB90CDB0-8F81-4364-B75C-24FD73933822}">
      <dsp:nvSpPr>
        <dsp:cNvPr id="0" name=""/>
        <dsp:cNvSpPr/>
      </dsp:nvSpPr>
      <dsp:spPr>
        <a:xfrm>
          <a:off x="1122712" y="1919219"/>
          <a:ext cx="8270175" cy="484885"/>
        </a:xfrm>
        <a:custGeom>
          <a:avLst/>
          <a:gdLst/>
          <a:ahLst/>
          <a:cxnLst/>
          <a:rect l="0" t="0" r="0" b="0"/>
          <a:pathLst>
            <a:path>
              <a:moveTo>
                <a:pt x="8270175" y="0"/>
              </a:moveTo>
              <a:lnTo>
                <a:pt x="8270175" y="259542"/>
              </a:lnTo>
              <a:lnTo>
                <a:pt x="0" y="259542"/>
              </a:lnTo>
              <a:lnTo>
                <a:pt x="0" y="484885"/>
              </a:lnTo>
            </a:path>
          </a:pathLst>
        </a:custGeom>
        <a:noFill/>
        <a:ln w="12700" cap="flat" cmpd="sng" algn="ctr">
          <a:solidFill>
            <a:schemeClr val="accent5">
              <a:hueOff val="-6076075"/>
              <a:satOff val="-413"/>
              <a:lumOff val="98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50644" y="2159084"/>
        <a:ext cx="414311" cy="5154"/>
      </dsp:txXfrm>
    </dsp:sp>
    <dsp:sp modelId="{30C9B354-5B6F-48E1-9E07-4090CA1B919B}">
      <dsp:nvSpPr>
        <dsp:cNvPr id="0" name=""/>
        <dsp:cNvSpPr/>
      </dsp:nvSpPr>
      <dsp:spPr>
        <a:xfrm>
          <a:off x="8272267" y="576275"/>
          <a:ext cx="2241239" cy="1344743"/>
        </a:xfrm>
        <a:prstGeom prst="rect">
          <a:avLst/>
        </a:prstGeom>
        <a:solidFill>
          <a:schemeClr val="accent5">
            <a:hueOff val="-5208064"/>
            <a:satOff val="-354"/>
            <a:lumOff val="84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kern="1200" dirty="0"/>
            <a:t>Hand coded a 200-speech validation sample</a:t>
          </a:r>
        </a:p>
      </dsp:txBody>
      <dsp:txXfrm>
        <a:off x="8272267" y="576275"/>
        <a:ext cx="2241239" cy="1344743"/>
      </dsp:txXfrm>
    </dsp:sp>
    <dsp:sp modelId="{E59E5C0B-CFEA-4388-A6D0-594FF8FC42FE}">
      <dsp:nvSpPr>
        <dsp:cNvPr id="0" name=""/>
        <dsp:cNvSpPr/>
      </dsp:nvSpPr>
      <dsp:spPr>
        <a:xfrm>
          <a:off x="2241532" y="3063156"/>
          <a:ext cx="484885" cy="91440"/>
        </a:xfrm>
        <a:custGeom>
          <a:avLst/>
          <a:gdLst/>
          <a:ahLst/>
          <a:cxnLst/>
          <a:rect l="0" t="0" r="0" b="0"/>
          <a:pathLst>
            <a:path>
              <a:moveTo>
                <a:pt x="0" y="45720"/>
              </a:moveTo>
              <a:lnTo>
                <a:pt x="484885" y="45720"/>
              </a:lnTo>
            </a:path>
          </a:pathLst>
        </a:custGeom>
        <a:noFill/>
        <a:ln w="12700" cap="flat" cmpd="sng" algn="ctr">
          <a:solidFill>
            <a:schemeClr val="accent5">
              <a:hueOff val="-8101434"/>
              <a:satOff val="-551"/>
              <a:lumOff val="1307"/>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71087" y="3106299"/>
        <a:ext cx="25774" cy="5154"/>
      </dsp:txXfrm>
    </dsp:sp>
    <dsp:sp modelId="{5B02F804-4F0D-405D-8ACC-4E42B8A8AB0B}">
      <dsp:nvSpPr>
        <dsp:cNvPr id="0" name=""/>
        <dsp:cNvSpPr/>
      </dsp:nvSpPr>
      <dsp:spPr>
        <a:xfrm>
          <a:off x="2092" y="2436504"/>
          <a:ext cx="2241239" cy="1344743"/>
        </a:xfrm>
        <a:prstGeom prst="rect">
          <a:avLst/>
        </a:prstGeom>
        <a:solidFill>
          <a:schemeClr val="accent5">
            <a:hueOff val="-6944086"/>
            <a:satOff val="-472"/>
            <a:lumOff val="112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b="0" i="0" kern="1200" baseline="0" dirty="0"/>
            <a:t>Compared hand coding to zero-shot labels</a:t>
          </a:r>
          <a:endParaRPr lang="en-US" sz="1900" kern="1200" dirty="0"/>
        </a:p>
      </dsp:txBody>
      <dsp:txXfrm>
        <a:off x="2092" y="2436504"/>
        <a:ext cx="2241239" cy="1344743"/>
      </dsp:txXfrm>
    </dsp:sp>
    <dsp:sp modelId="{9031E1AF-6FF0-4455-8CFE-DF720AD2377B}">
      <dsp:nvSpPr>
        <dsp:cNvPr id="0" name=""/>
        <dsp:cNvSpPr/>
      </dsp:nvSpPr>
      <dsp:spPr>
        <a:xfrm>
          <a:off x="4998257" y="3063156"/>
          <a:ext cx="484885" cy="91440"/>
        </a:xfrm>
        <a:custGeom>
          <a:avLst/>
          <a:gdLst/>
          <a:ahLst/>
          <a:cxnLst/>
          <a:rect l="0" t="0" r="0" b="0"/>
          <a:pathLst>
            <a:path>
              <a:moveTo>
                <a:pt x="0" y="45720"/>
              </a:moveTo>
              <a:lnTo>
                <a:pt x="484885" y="45720"/>
              </a:lnTo>
            </a:path>
          </a:pathLst>
        </a:custGeom>
        <a:noFill/>
        <a:ln w="12700" cap="flat" cmpd="sng" algn="ctr">
          <a:solidFill>
            <a:schemeClr val="accent5">
              <a:hueOff val="-10126791"/>
              <a:satOff val="-688"/>
              <a:lumOff val="1634"/>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5227812" y="3106299"/>
        <a:ext cx="25774" cy="5154"/>
      </dsp:txXfrm>
    </dsp:sp>
    <dsp:sp modelId="{EBF3DFDC-7EE8-434E-9934-442C24BA59CC}">
      <dsp:nvSpPr>
        <dsp:cNvPr id="0" name=""/>
        <dsp:cNvSpPr/>
      </dsp:nvSpPr>
      <dsp:spPr>
        <a:xfrm>
          <a:off x="2758817" y="2436504"/>
          <a:ext cx="2241239" cy="1344743"/>
        </a:xfrm>
        <a:prstGeom prst="rect">
          <a:avLst/>
        </a:prstGeom>
        <a:solidFill>
          <a:schemeClr val="accent5">
            <a:hueOff val="-8680107"/>
            <a:satOff val="-590"/>
            <a:lumOff val="140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b="0" i="0" kern="1200" baseline="0" dirty="0"/>
            <a:t>Built topic-specific training sets</a:t>
          </a:r>
          <a:endParaRPr lang="en-US" sz="1900" kern="1200" dirty="0"/>
        </a:p>
      </dsp:txBody>
      <dsp:txXfrm>
        <a:off x="2758817" y="2436504"/>
        <a:ext cx="2241239" cy="1344743"/>
      </dsp:txXfrm>
    </dsp:sp>
    <dsp:sp modelId="{B5DFF75D-F169-4B53-93F2-D83B67DF942A}">
      <dsp:nvSpPr>
        <dsp:cNvPr id="0" name=""/>
        <dsp:cNvSpPr/>
      </dsp:nvSpPr>
      <dsp:spPr>
        <a:xfrm>
          <a:off x="7754982" y="3063156"/>
          <a:ext cx="484885" cy="91440"/>
        </a:xfrm>
        <a:custGeom>
          <a:avLst/>
          <a:gdLst/>
          <a:ahLst/>
          <a:cxnLst/>
          <a:rect l="0" t="0" r="0" b="0"/>
          <a:pathLst>
            <a:path>
              <a:moveTo>
                <a:pt x="0" y="45720"/>
              </a:moveTo>
              <a:lnTo>
                <a:pt x="484885" y="45720"/>
              </a:lnTo>
            </a:path>
          </a:pathLst>
        </a:custGeom>
        <a:noFill/>
        <a:ln w="12700" cap="flat" cmpd="sng" algn="ctr">
          <a:solidFill>
            <a:schemeClr val="accent5">
              <a:hueOff val="-12152150"/>
              <a:satOff val="-826"/>
              <a:lumOff val="1961"/>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CA" sz="500" kern="1200"/>
        </a:p>
      </dsp:txBody>
      <dsp:txXfrm>
        <a:off x="7984537" y="3106299"/>
        <a:ext cx="25774" cy="5154"/>
      </dsp:txXfrm>
    </dsp:sp>
    <dsp:sp modelId="{C3B2EE10-A87E-416C-99BD-1F2E60FF54E6}">
      <dsp:nvSpPr>
        <dsp:cNvPr id="0" name=""/>
        <dsp:cNvSpPr/>
      </dsp:nvSpPr>
      <dsp:spPr>
        <a:xfrm>
          <a:off x="5515542" y="2436504"/>
          <a:ext cx="2241239" cy="1344743"/>
        </a:xfrm>
        <a:prstGeom prst="rect">
          <a:avLst/>
        </a:prstGeom>
        <a:solidFill>
          <a:schemeClr val="accent5">
            <a:hueOff val="-10416129"/>
            <a:satOff val="-708"/>
            <a:lumOff val="16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b="0" i="0" kern="1200" baseline="0" dirty="0"/>
            <a:t>Applied final classifiers</a:t>
          </a:r>
          <a:endParaRPr lang="en-US" sz="1900" kern="1200" dirty="0"/>
        </a:p>
      </dsp:txBody>
      <dsp:txXfrm>
        <a:off x="5515542" y="2436504"/>
        <a:ext cx="2241239" cy="1344743"/>
      </dsp:txXfrm>
    </dsp:sp>
    <dsp:sp modelId="{F8AC9C3A-2325-4D53-84E7-4DAD03ECCA7E}">
      <dsp:nvSpPr>
        <dsp:cNvPr id="0" name=""/>
        <dsp:cNvSpPr/>
      </dsp:nvSpPr>
      <dsp:spPr>
        <a:xfrm>
          <a:off x="8272267" y="2436504"/>
          <a:ext cx="2241239" cy="1344743"/>
        </a:xfrm>
        <a:prstGeom prst="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9823" tIns="115278" rIns="109823" bIns="115278" numCol="1" spcCol="1270" anchor="ctr" anchorCtr="0">
          <a:noAutofit/>
        </a:bodyPr>
        <a:lstStyle/>
        <a:p>
          <a:pPr marL="0" lvl="0" indent="0" algn="ctr" defTabSz="844550">
            <a:lnSpc>
              <a:spcPct val="90000"/>
            </a:lnSpc>
            <a:spcBef>
              <a:spcPct val="0"/>
            </a:spcBef>
            <a:spcAft>
              <a:spcPct val="35000"/>
            </a:spcAft>
            <a:buNone/>
          </a:pPr>
          <a:r>
            <a:rPr lang="en-US" sz="1900" kern="1200" dirty="0"/>
            <a:t>Analyze topic prevalence overall, over time, and by party</a:t>
          </a:r>
        </a:p>
      </dsp:txBody>
      <dsp:txXfrm>
        <a:off x="8272267" y="2436504"/>
        <a:ext cx="2241239" cy="13447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ADFD6D-2FE6-4CC8-AD57-9D4C88FACA0C}">
      <dsp:nvSpPr>
        <dsp:cNvPr id="0" name=""/>
        <dsp:cNvSpPr/>
      </dsp:nvSpPr>
      <dsp:spPr>
        <a:xfrm>
          <a:off x="1283" y="284843"/>
          <a:ext cx="3003723" cy="150186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CA" sz="2500" kern="1200"/>
            <a:t>University Affordability/Access</a:t>
          </a:r>
          <a:endParaRPr lang="en-US" sz="2500" kern="1200"/>
        </a:p>
      </dsp:txBody>
      <dsp:txXfrm>
        <a:off x="45271" y="328831"/>
        <a:ext cx="2915747" cy="1413885"/>
      </dsp:txXfrm>
    </dsp:sp>
    <dsp:sp modelId="{3AD74127-C24A-4C20-BD55-58D4B72FFE7F}">
      <dsp:nvSpPr>
        <dsp:cNvPr id="0" name=""/>
        <dsp:cNvSpPr/>
      </dsp:nvSpPr>
      <dsp:spPr>
        <a:xfrm>
          <a:off x="301656" y="1786705"/>
          <a:ext cx="300372" cy="1126396"/>
        </a:xfrm>
        <a:custGeom>
          <a:avLst/>
          <a:gdLst/>
          <a:ahLst/>
          <a:cxnLst/>
          <a:rect l="0" t="0" r="0" b="0"/>
          <a:pathLst>
            <a:path>
              <a:moveTo>
                <a:pt x="0" y="0"/>
              </a:moveTo>
              <a:lnTo>
                <a:pt x="0" y="1126396"/>
              </a:lnTo>
              <a:lnTo>
                <a:pt x="300372" y="1126396"/>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BA6D9A1-00A8-4FB7-A07C-7CBBB2ECB93C}">
      <dsp:nvSpPr>
        <dsp:cNvPr id="0" name=""/>
        <dsp:cNvSpPr/>
      </dsp:nvSpPr>
      <dsp:spPr>
        <a:xfrm>
          <a:off x="602028" y="2162170"/>
          <a:ext cx="2402978" cy="1501861"/>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“Does the minister not realize that besides </a:t>
          </a:r>
          <a:r>
            <a:rPr lang="en-US" sz="1000" b="1" kern="1200" dirty="0"/>
            <a:t>doubling tuition fees</a:t>
          </a:r>
          <a:r>
            <a:rPr lang="en-US" sz="1000" kern="1200" dirty="0"/>
            <a:t>, his reform helps to double </a:t>
          </a:r>
          <a:r>
            <a:rPr lang="en-US" sz="1000" b="1" kern="1200" dirty="0"/>
            <a:t>students’ indebtedness</a:t>
          </a:r>
          <a:r>
            <a:rPr lang="en-US" sz="1000" kern="1200" dirty="0"/>
            <a:t>...?”</a:t>
          </a:r>
        </a:p>
      </dsp:txBody>
      <dsp:txXfrm>
        <a:off x="646016" y="2206158"/>
        <a:ext cx="2315002" cy="1413885"/>
      </dsp:txXfrm>
    </dsp:sp>
    <dsp:sp modelId="{57500299-AA77-44ED-BE44-E137237326DE}">
      <dsp:nvSpPr>
        <dsp:cNvPr id="0" name=""/>
        <dsp:cNvSpPr/>
      </dsp:nvSpPr>
      <dsp:spPr>
        <a:xfrm>
          <a:off x="3755938" y="284843"/>
          <a:ext cx="3003723" cy="1501861"/>
        </a:xfrm>
        <a:prstGeom prst="roundRect">
          <a:avLst>
            <a:gd name="adj" fmla="val 10000"/>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CA" sz="2500" kern="1200" dirty="0"/>
            <a:t>Skills/Training: </a:t>
          </a:r>
          <a:endParaRPr lang="en-US" sz="2500" kern="1200" dirty="0"/>
        </a:p>
      </dsp:txBody>
      <dsp:txXfrm>
        <a:off x="3799926" y="328831"/>
        <a:ext cx="2915747" cy="1413885"/>
      </dsp:txXfrm>
    </dsp:sp>
    <dsp:sp modelId="{9F659831-95AD-4887-95AE-B52A54D43BA2}">
      <dsp:nvSpPr>
        <dsp:cNvPr id="0" name=""/>
        <dsp:cNvSpPr/>
      </dsp:nvSpPr>
      <dsp:spPr>
        <a:xfrm>
          <a:off x="4056310" y="1786705"/>
          <a:ext cx="300372" cy="1126396"/>
        </a:xfrm>
        <a:custGeom>
          <a:avLst/>
          <a:gdLst/>
          <a:ahLst/>
          <a:cxnLst/>
          <a:rect l="0" t="0" r="0" b="0"/>
          <a:pathLst>
            <a:path>
              <a:moveTo>
                <a:pt x="0" y="0"/>
              </a:moveTo>
              <a:lnTo>
                <a:pt x="0" y="1126396"/>
              </a:lnTo>
              <a:lnTo>
                <a:pt x="300372" y="1126396"/>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74573B-C350-4F01-8B50-22D68BB2A623}">
      <dsp:nvSpPr>
        <dsp:cNvPr id="0" name=""/>
        <dsp:cNvSpPr/>
      </dsp:nvSpPr>
      <dsp:spPr>
        <a:xfrm>
          <a:off x="4356682" y="2162170"/>
          <a:ext cx="2402978" cy="1501861"/>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6076075"/>
              <a:satOff val="-413"/>
              <a:lumOff val="98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“They voted against increased </a:t>
          </a:r>
          <a:r>
            <a:rPr lang="en-US" sz="1000" b="1" kern="1200" dirty="0"/>
            <a:t>investments in job training.</a:t>
          </a:r>
          <a:r>
            <a:rPr lang="en-US" sz="1000" kern="1200" dirty="0"/>
            <a:t> They have voted against every constructive measure: the Canada </a:t>
          </a:r>
          <a:r>
            <a:rPr lang="en-US" sz="1000" b="1" kern="1200" dirty="0"/>
            <a:t>apprenticeship</a:t>
          </a:r>
          <a:r>
            <a:rPr lang="en-US" sz="1000" kern="1200" dirty="0"/>
            <a:t> loan, the Canada job grant, and the incentive grant </a:t>
          </a:r>
          <a:r>
            <a:rPr lang="en-US" sz="1000" b="1" kern="1200" dirty="0"/>
            <a:t>for new apprentices</a:t>
          </a:r>
          <a:r>
            <a:rPr lang="en-US" sz="1000" kern="1200" dirty="0"/>
            <a:t>….”</a:t>
          </a:r>
        </a:p>
      </dsp:txBody>
      <dsp:txXfrm>
        <a:off x="4400670" y="2206158"/>
        <a:ext cx="2315002" cy="1413885"/>
      </dsp:txXfrm>
    </dsp:sp>
    <dsp:sp modelId="{78B915BE-3B0B-47C1-B3E0-17689137946E}">
      <dsp:nvSpPr>
        <dsp:cNvPr id="0" name=""/>
        <dsp:cNvSpPr/>
      </dsp:nvSpPr>
      <dsp:spPr>
        <a:xfrm>
          <a:off x="7510592" y="284843"/>
          <a:ext cx="3003723" cy="1501861"/>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en-CA" sz="2500" kern="1200" dirty="0"/>
            <a:t>Early Learning/Childcare: </a:t>
          </a:r>
          <a:endParaRPr lang="en-US" sz="2500" kern="1200" dirty="0"/>
        </a:p>
      </dsp:txBody>
      <dsp:txXfrm>
        <a:off x="7554580" y="328831"/>
        <a:ext cx="2915747" cy="1413885"/>
      </dsp:txXfrm>
    </dsp:sp>
    <dsp:sp modelId="{0BB319CC-0FEE-40EA-9AF1-2910DE605E9C}">
      <dsp:nvSpPr>
        <dsp:cNvPr id="0" name=""/>
        <dsp:cNvSpPr/>
      </dsp:nvSpPr>
      <dsp:spPr>
        <a:xfrm>
          <a:off x="7810965" y="1786705"/>
          <a:ext cx="300372" cy="1126396"/>
        </a:xfrm>
        <a:custGeom>
          <a:avLst/>
          <a:gdLst/>
          <a:ahLst/>
          <a:cxnLst/>
          <a:rect l="0" t="0" r="0" b="0"/>
          <a:pathLst>
            <a:path>
              <a:moveTo>
                <a:pt x="0" y="0"/>
              </a:moveTo>
              <a:lnTo>
                <a:pt x="0" y="1126396"/>
              </a:lnTo>
              <a:lnTo>
                <a:pt x="300372" y="1126396"/>
              </a:lnTo>
            </a:path>
          </a:pathLst>
        </a:custGeom>
        <a:noFill/>
        <a:ln w="1905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5EE4C4-7D7D-4D45-A08B-3998DB79BAC5}">
      <dsp:nvSpPr>
        <dsp:cNvPr id="0" name=""/>
        <dsp:cNvSpPr/>
      </dsp:nvSpPr>
      <dsp:spPr>
        <a:xfrm>
          <a:off x="8111337" y="2162170"/>
          <a:ext cx="2402978" cy="1501861"/>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12152150"/>
              <a:satOff val="-826"/>
              <a:lumOff val="196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9050" tIns="12700" rIns="1905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“As a result of </a:t>
          </a:r>
          <a:r>
            <a:rPr lang="en-US" sz="1000" b="1" kern="1200" dirty="0"/>
            <a:t>the early learning and childcare </a:t>
          </a:r>
          <a:r>
            <a:rPr lang="en-US" sz="1000" kern="1200" dirty="0"/>
            <a:t>agreement signed with Ontario, Halton will receive 500 new spaces over the next three years. The </a:t>
          </a:r>
          <a:r>
            <a:rPr lang="en-US" sz="1000" b="1" kern="1200" dirty="0"/>
            <a:t>childcare spaces </a:t>
          </a:r>
          <a:r>
            <a:rPr lang="en-US" sz="1000" kern="1200" dirty="0"/>
            <a:t>will primarily be located in or near schools so that junior and senior </a:t>
          </a:r>
          <a:r>
            <a:rPr lang="en-US" sz="1000" b="1" kern="1200" dirty="0"/>
            <a:t>kindergarten student</a:t>
          </a:r>
          <a:r>
            <a:rPr lang="en-US" sz="1000" kern="1200" dirty="0"/>
            <a:t>s can benefit from a seamless full day of learning and </a:t>
          </a:r>
          <a:r>
            <a:rPr lang="en-US" sz="1000" b="1" kern="1200" dirty="0"/>
            <a:t>childcare</a:t>
          </a:r>
          <a:r>
            <a:rPr lang="en-US" sz="1000" kern="1200" dirty="0"/>
            <a:t>….”</a:t>
          </a:r>
        </a:p>
      </dsp:txBody>
      <dsp:txXfrm>
        <a:off x="8155325" y="2206158"/>
        <a:ext cx="2315002" cy="1413885"/>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7E7F42-9F5C-40F1-B5C3-47D2FCE75316}" type="datetimeFigureOut">
              <a:rPr lang="en-CA" smtClean="0"/>
              <a:t>2026-04-12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C8B7C7-CF6B-486F-9ED6-217EF0005DCE}" type="slidenum">
              <a:rPr lang="en-CA" smtClean="0"/>
              <a:t>‹#›</a:t>
            </a:fld>
            <a:endParaRPr lang="en-CA"/>
          </a:p>
        </p:txBody>
      </p:sp>
    </p:spTree>
    <p:extLst>
      <p:ext uri="{BB962C8B-B14F-4D97-AF65-F5344CB8AC3E}">
        <p14:creationId xmlns:p14="http://schemas.microsoft.com/office/powerpoint/2010/main" val="1524540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Kaylynn, and this project asks a pretty simple but politically interesting question: how do Canadian MPs talk about education in House of Commons debate?</a:t>
            </a:r>
          </a:p>
          <a:p>
            <a:endParaRPr lang="en-US" dirty="0"/>
          </a:p>
          <a:p>
            <a:r>
              <a:rPr lang="en-US" dirty="0"/>
              <a:t>Even though education authority is a provincial power in Canada, it still shows up regularly in federal parliamentary speech. So I wanted to know what how references to education were showing up. </a:t>
            </a:r>
            <a:endParaRPr lang="en-CA" dirty="0"/>
          </a:p>
        </p:txBody>
      </p:sp>
      <p:sp>
        <p:nvSpPr>
          <p:cNvPr id="4" name="Slide Number Placeholder 3"/>
          <p:cNvSpPr>
            <a:spLocks noGrp="1"/>
          </p:cNvSpPr>
          <p:nvPr>
            <p:ph type="sldNum" sz="quarter" idx="5"/>
          </p:nvPr>
        </p:nvSpPr>
        <p:spPr/>
        <p:txBody>
          <a:bodyPr/>
          <a:lstStyle/>
          <a:p>
            <a:fld id="{A5C8B7C7-CF6B-486F-9ED6-217EF0005DCE}" type="slidenum">
              <a:rPr lang="en-CA" smtClean="0"/>
              <a:t>1</a:t>
            </a:fld>
            <a:endParaRPr lang="en-CA"/>
          </a:p>
        </p:txBody>
      </p:sp>
    </p:spTree>
    <p:extLst>
      <p:ext uri="{BB962C8B-B14F-4D97-AF65-F5344CB8AC3E}">
        <p14:creationId xmlns:p14="http://schemas.microsoft.com/office/powerpoint/2010/main" val="1142240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research question is: how do Canadian MPs talk about education in House of Commons debate? More specifically, which education topics appear most often in federal speech, and how do those vary over time and across parties? So this project is not just about whether education is mentioned. It is about the different ways education is being invoked politically. </a:t>
            </a:r>
            <a:endParaRPr lang="en-CA" dirty="0"/>
          </a:p>
        </p:txBody>
      </p:sp>
      <p:sp>
        <p:nvSpPr>
          <p:cNvPr id="4" name="Slide Number Placeholder 3"/>
          <p:cNvSpPr>
            <a:spLocks noGrp="1"/>
          </p:cNvSpPr>
          <p:nvPr>
            <p:ph type="sldNum" sz="quarter" idx="5"/>
          </p:nvPr>
        </p:nvSpPr>
        <p:spPr/>
        <p:txBody>
          <a:bodyPr/>
          <a:lstStyle/>
          <a:p>
            <a:fld id="{A5C8B7C7-CF6B-486F-9ED6-217EF0005DCE}" type="slidenum">
              <a:rPr lang="en-CA" smtClean="0"/>
              <a:t>2</a:t>
            </a:fld>
            <a:endParaRPr lang="en-CA"/>
          </a:p>
        </p:txBody>
      </p:sp>
    </p:spTree>
    <p:extLst>
      <p:ext uri="{BB962C8B-B14F-4D97-AF65-F5344CB8AC3E}">
        <p14:creationId xmlns:p14="http://schemas.microsoft.com/office/powerpoint/2010/main" val="2564820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Education is primarily a provincial responsibility in Canada. </a:t>
            </a:r>
          </a:p>
          <a:p>
            <a:endParaRPr lang="en-US" dirty="0"/>
          </a:p>
          <a:p>
            <a:r>
              <a:rPr lang="en-US" dirty="0"/>
              <a:t>But even so, MPs still talk about education in the House of Commons. </a:t>
            </a:r>
          </a:p>
          <a:p>
            <a:endParaRPr lang="en-US" dirty="0"/>
          </a:p>
          <a:p>
            <a:r>
              <a:rPr lang="en-US" dirty="0"/>
              <a:t>That suggests education remains politically relevant at the federal level, even though formal policy authority is limited. </a:t>
            </a:r>
          </a:p>
          <a:p>
            <a:endParaRPr lang="en-US" dirty="0"/>
          </a:p>
          <a:p>
            <a:r>
              <a:rPr lang="en-US" dirty="0"/>
              <a:t>So, education might still serve some political purpose, even though federal MPs have no direct control over K–12 and postsecondary governance. </a:t>
            </a:r>
            <a:endParaRPr lang="en-CA" dirty="0"/>
          </a:p>
        </p:txBody>
      </p:sp>
      <p:sp>
        <p:nvSpPr>
          <p:cNvPr id="4" name="Slide Number Placeholder 3"/>
          <p:cNvSpPr>
            <a:spLocks noGrp="1"/>
          </p:cNvSpPr>
          <p:nvPr>
            <p:ph type="sldNum" sz="quarter" idx="5"/>
          </p:nvPr>
        </p:nvSpPr>
        <p:spPr/>
        <p:txBody>
          <a:bodyPr/>
          <a:lstStyle/>
          <a:p>
            <a:fld id="{A5C8B7C7-CF6B-486F-9ED6-217EF0005DCE}" type="slidenum">
              <a:rPr lang="en-CA" smtClean="0"/>
              <a:t>3</a:t>
            </a:fld>
            <a:endParaRPr lang="en-CA"/>
          </a:p>
        </p:txBody>
      </p:sp>
    </p:spTree>
    <p:extLst>
      <p:ext uri="{BB962C8B-B14F-4D97-AF65-F5344CB8AC3E}">
        <p14:creationId xmlns:p14="http://schemas.microsoft.com/office/powerpoint/2010/main" val="2897171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data comes from the Canadian House of Commons Hansard, covering 1900 to 2019. The unit of analysis is the individual MP speech. To build a manageable corpus, I sampled 100 rows from each speech file, which gave me a master sample of just over 1.3 million speeches. I then applied an education keyword filter, which reduced that to 60,833 education-related speeches. I also kept metadata like date, weekday, speaker, and party so I could compare patterns over time and across political actors.</a:t>
            </a:r>
          </a:p>
          <a:p>
            <a:endParaRPr lang="en-US" dirty="0"/>
          </a:p>
          <a:p>
            <a:r>
              <a:rPr lang="en-US" dirty="0"/>
              <a:t>Once I had the education subset, the next question was how to move from retrieval to classification. </a:t>
            </a:r>
            <a:endParaRPr lang="en-CA" dirty="0"/>
          </a:p>
        </p:txBody>
      </p:sp>
      <p:sp>
        <p:nvSpPr>
          <p:cNvPr id="4" name="Slide Number Placeholder 3"/>
          <p:cNvSpPr>
            <a:spLocks noGrp="1"/>
          </p:cNvSpPr>
          <p:nvPr>
            <p:ph type="sldNum" sz="quarter" idx="5"/>
          </p:nvPr>
        </p:nvSpPr>
        <p:spPr/>
        <p:txBody>
          <a:bodyPr/>
          <a:lstStyle/>
          <a:p>
            <a:fld id="{A5C8B7C7-CF6B-486F-9ED6-217EF0005DCE}" type="slidenum">
              <a:rPr lang="en-CA" smtClean="0"/>
              <a:t>4</a:t>
            </a:fld>
            <a:endParaRPr lang="en-CA"/>
          </a:p>
        </p:txBody>
      </p:sp>
    </p:spTree>
    <p:extLst>
      <p:ext uri="{BB962C8B-B14F-4D97-AF65-F5344CB8AC3E}">
        <p14:creationId xmlns:p14="http://schemas.microsoft.com/office/powerpoint/2010/main" val="1233097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so, to outline the rest of my workflow after wrangling the data, </a:t>
            </a:r>
          </a:p>
          <a:p>
            <a:r>
              <a:rPr lang="en-US" dirty="0"/>
              <a:t>I created a 200-speech sample for hand-coding, compared those hand-coded labels to zero-shot labels. </a:t>
            </a:r>
          </a:p>
          <a:p>
            <a:endParaRPr lang="en-US" dirty="0"/>
          </a:p>
          <a:p>
            <a:r>
              <a:rPr lang="en-US" dirty="0"/>
              <a:t>And then I expanded the topic-specific training sets using topic-specific dictionaries, applied each topic-specific classifiers, which gave me the final predictions that I used to analyze the results. </a:t>
            </a:r>
            <a:endParaRPr lang="en-CA" dirty="0"/>
          </a:p>
        </p:txBody>
      </p:sp>
      <p:sp>
        <p:nvSpPr>
          <p:cNvPr id="4" name="Slide Number Placeholder 3"/>
          <p:cNvSpPr>
            <a:spLocks noGrp="1"/>
          </p:cNvSpPr>
          <p:nvPr>
            <p:ph type="sldNum" sz="quarter" idx="5"/>
          </p:nvPr>
        </p:nvSpPr>
        <p:spPr/>
        <p:txBody>
          <a:bodyPr/>
          <a:lstStyle/>
          <a:p>
            <a:fld id="{A5C8B7C7-CF6B-486F-9ED6-217EF0005DCE}" type="slidenum">
              <a:rPr lang="en-CA" smtClean="0"/>
              <a:t>5</a:t>
            </a:fld>
            <a:endParaRPr lang="en-CA"/>
          </a:p>
        </p:txBody>
      </p:sp>
    </p:spTree>
    <p:extLst>
      <p:ext uri="{BB962C8B-B14F-4D97-AF65-F5344CB8AC3E}">
        <p14:creationId xmlns:p14="http://schemas.microsoft.com/office/powerpoint/2010/main" val="28878690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coded speeches across seven topic categories: Indigenous education, official languages, affordability and access, universities and research, skills and training, early learning and childcare, and federalism and jurisdiction. I derived these categories from recurring themes in Canadian education policy research and debate, and refining after reading through some of the sample. </a:t>
            </a:r>
          </a:p>
          <a:p>
            <a:endParaRPr lang="en-US" dirty="0"/>
          </a:p>
          <a:p>
            <a:r>
              <a:rPr lang="en-US" dirty="0"/>
              <a:t> Each topic was coded as present or absent, I allowed overlap across topics, as some speeches referenced more than one type of education,  and I did have some ambiguous case,  </a:t>
            </a:r>
            <a:r>
              <a:rPr lang="en-CA" dirty="0"/>
              <a:t>which were coded conservatively, meaning if the topic was not clearly about the topic it was not considered relevant to that topic. </a:t>
            </a:r>
          </a:p>
          <a:p>
            <a:endParaRPr lang="en-CA" dirty="0"/>
          </a:p>
          <a:p>
            <a:r>
              <a:rPr lang="en-US" dirty="0"/>
              <a:t>To make these a bit more concrete, here are a few examples from the strongest categories. </a:t>
            </a:r>
            <a:endParaRPr lang="en-CA" dirty="0"/>
          </a:p>
          <a:p>
            <a:endParaRPr lang="en-CA" dirty="0"/>
          </a:p>
          <a:p>
            <a:endParaRPr lang="en-CA" dirty="0"/>
          </a:p>
          <a:p>
            <a:r>
              <a:rPr lang="en-US" b="1" dirty="0"/>
              <a:t>Official languages / minority-language schooling:</a:t>
            </a:r>
            <a:r>
              <a:rPr lang="en-US" dirty="0"/>
              <a:t> Section 23 of the Charter is the obvious anchor here. Justice Canada’s </a:t>
            </a:r>
            <a:r>
              <a:rPr lang="en-US" dirty="0" err="1"/>
              <a:t>Charterpedia</a:t>
            </a:r>
            <a:r>
              <a:rPr lang="en-US" dirty="0"/>
              <a:t> explains that Section 23 is designed to preserve and promote minority-language communities through schooling and gives minority-language communities management and control rights; the McGill Law Journal article </a:t>
            </a:r>
            <a:r>
              <a:rPr lang="en-US" i="1" dirty="0"/>
              <a:t>Education and Linguistic Security in the Charter</a:t>
            </a:r>
            <a:r>
              <a:rPr lang="en-US" dirty="0"/>
              <a:t> is a classic legal-treatment of the same issue. </a:t>
            </a:r>
            <a:r>
              <a:rPr lang="en-US" b="1" dirty="0"/>
              <a:t>Postsecondary affordability / student aid / access:</a:t>
            </a:r>
            <a:r>
              <a:rPr lang="en-US" dirty="0"/>
              <a:t> The Council of Ministers of Education, Canada literature review frames affordability around tuition and student aid, and the ENAP student-aid review shows the core access literature revolves around loans, grants, and the impact of aid on enrollment and completion. </a:t>
            </a:r>
            <a:r>
              <a:rPr lang="en-US" b="1" dirty="0"/>
              <a:t>Universities / research / innovation:</a:t>
            </a:r>
            <a:r>
              <a:rPr lang="en-US" dirty="0"/>
              <a:t> Allan Tupper’s </a:t>
            </a:r>
            <a:r>
              <a:rPr lang="en-US" i="1" dirty="0"/>
              <a:t>Modernizing Canada’s Research Universities</a:t>
            </a:r>
            <a:r>
              <a:rPr lang="en-US" dirty="0"/>
              <a:t> argues that Ottawa became a dominant force in university research policy through programs like CFI, CIHR, and Canada Research Chairs, and the CIRST chapter on Canada’s university sector makes the same broader point: provinces govern higher education constitutionally, but research and development are a major channel of federal postsecondary involvement. </a:t>
            </a:r>
            <a:r>
              <a:rPr lang="en-US" b="1" dirty="0"/>
              <a:t>Skills / training / </a:t>
            </a:r>
            <a:r>
              <a:rPr lang="en-US" b="1" dirty="0" err="1"/>
              <a:t>labour</a:t>
            </a:r>
            <a:r>
              <a:rPr lang="en-US" b="1" dirty="0"/>
              <a:t>-market development:</a:t>
            </a:r>
            <a:r>
              <a:rPr lang="en-US" dirty="0"/>
              <a:t> The Canadian Public Policy article </a:t>
            </a:r>
            <a:r>
              <a:rPr lang="en-US" i="1" dirty="0"/>
              <a:t>Training and Skills Development Policy Options for the Future</a:t>
            </a:r>
            <a:r>
              <a:rPr lang="en-US" dirty="0"/>
              <a:t> treats </a:t>
            </a:r>
            <a:r>
              <a:rPr lang="en-US" dirty="0" err="1"/>
              <a:t>labour</a:t>
            </a:r>
            <a:r>
              <a:rPr lang="en-US" dirty="0"/>
              <a:t>-market training and skills development as a distinct policy field, and HEQCO’s skills reports show why skills discourse is regularly tied to employability, </a:t>
            </a:r>
            <a:r>
              <a:rPr lang="en-US" dirty="0" err="1"/>
              <a:t>labour</a:t>
            </a:r>
            <a:r>
              <a:rPr lang="en-US" dirty="0"/>
              <a:t>-market mismatch, and work-integrated preparation. </a:t>
            </a:r>
            <a:r>
              <a:rPr lang="en-US" b="1" dirty="0"/>
              <a:t>Early learning / childcare:</a:t>
            </a:r>
            <a:r>
              <a:rPr lang="en-US" dirty="0"/>
              <a:t> Martha Friendly’s work is a safe name to know here. She treats early childhood education and care as a long-running Canadian policy field shaped by uneven provincial development and federal fits and starts, while other Canadian work explicitly frames childcare as limited and structured by federalism</a:t>
            </a:r>
            <a:endParaRPr lang="en-CA" dirty="0"/>
          </a:p>
        </p:txBody>
      </p:sp>
      <p:sp>
        <p:nvSpPr>
          <p:cNvPr id="4" name="Slide Number Placeholder 3"/>
          <p:cNvSpPr>
            <a:spLocks noGrp="1"/>
          </p:cNvSpPr>
          <p:nvPr>
            <p:ph type="sldNum" sz="quarter" idx="5"/>
          </p:nvPr>
        </p:nvSpPr>
        <p:spPr/>
        <p:txBody>
          <a:bodyPr/>
          <a:lstStyle/>
          <a:p>
            <a:fld id="{A5C8B7C7-CF6B-486F-9ED6-217EF0005DCE}" type="slidenum">
              <a:rPr lang="en-CA" smtClean="0"/>
              <a:t>6</a:t>
            </a:fld>
            <a:endParaRPr lang="en-CA"/>
          </a:p>
        </p:txBody>
      </p:sp>
    </p:spTree>
    <p:extLst>
      <p:ext uri="{BB962C8B-B14F-4D97-AF65-F5344CB8AC3E}">
        <p14:creationId xmlns:p14="http://schemas.microsoft.com/office/powerpoint/2010/main" val="3950619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Here are a few excerpts to illustrate how these topics actually appeared in the speeches. </a:t>
            </a:r>
          </a:p>
          <a:p>
            <a:endParaRPr lang="en-CA" dirty="0"/>
          </a:p>
          <a:p>
            <a:r>
              <a:rPr lang="en-US" dirty="0"/>
              <a:t>I included examples from three of the strongest-performing categories: affordability, skills and training, and early learning. </a:t>
            </a:r>
          </a:p>
          <a:p>
            <a:r>
              <a:rPr lang="en-US" dirty="0"/>
              <a:t>These examples show what the coding actually looks like in practice.</a:t>
            </a:r>
          </a:p>
          <a:p>
            <a:r>
              <a:rPr lang="en-US" dirty="0"/>
              <a:t> In the affordability example, the key signal is student debt or tuition. </a:t>
            </a:r>
          </a:p>
          <a:p>
            <a:r>
              <a:rPr lang="en-US" dirty="0"/>
              <a:t>In the skills example, the focus is job training, apprenticeship, and workforce preparation. </a:t>
            </a:r>
          </a:p>
          <a:p>
            <a:r>
              <a:rPr lang="en-US" dirty="0"/>
              <a:t>In the early learning example, the speech explicitly links childcare and early learning to schools or child development. </a:t>
            </a:r>
          </a:p>
          <a:p>
            <a:endParaRPr lang="en-US" dirty="0"/>
          </a:p>
          <a:p>
            <a:r>
              <a:rPr lang="en-US" dirty="0"/>
              <a:t>So, when coding each speech I did not just look for whether education was being talked about in the general sense, but for any specific policy or topic. </a:t>
            </a:r>
            <a:endParaRPr lang="en-CA" dirty="0"/>
          </a:p>
        </p:txBody>
      </p:sp>
      <p:sp>
        <p:nvSpPr>
          <p:cNvPr id="4" name="Slide Number Placeholder 3"/>
          <p:cNvSpPr>
            <a:spLocks noGrp="1"/>
          </p:cNvSpPr>
          <p:nvPr>
            <p:ph type="sldNum" sz="quarter" idx="5"/>
          </p:nvPr>
        </p:nvSpPr>
        <p:spPr/>
        <p:txBody>
          <a:bodyPr/>
          <a:lstStyle/>
          <a:p>
            <a:fld id="{A5C8B7C7-CF6B-486F-9ED6-217EF0005DCE}" type="slidenum">
              <a:rPr lang="en-CA" smtClean="0"/>
              <a:t>7</a:t>
            </a:fld>
            <a:endParaRPr lang="en-CA"/>
          </a:p>
        </p:txBody>
      </p:sp>
    </p:spTree>
    <p:extLst>
      <p:ext uri="{BB962C8B-B14F-4D97-AF65-F5344CB8AC3E}">
        <p14:creationId xmlns:p14="http://schemas.microsoft.com/office/powerpoint/2010/main" val="299847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breaking education talk into specific categories, I first looked at how often education appeared in the sampled Hansard corpus over time. Although the overall share of education related speeches is still fairly small, it rises over the century and becomes much more prominent in the late twentieth century, with noticeable spikes in certain periods.</a:t>
            </a:r>
          </a:p>
          <a:p>
            <a:endParaRPr lang="en-US" dirty="0"/>
          </a:p>
          <a:p>
            <a:r>
              <a:rPr lang="en-US" dirty="0"/>
              <a:t> So even before topic classification, this tells us that education’s salience in federal debate changes historically and maybe even over political contexts. </a:t>
            </a:r>
            <a:endParaRPr lang="en-CA" dirty="0"/>
          </a:p>
        </p:txBody>
      </p:sp>
      <p:sp>
        <p:nvSpPr>
          <p:cNvPr id="4" name="Slide Number Placeholder 3"/>
          <p:cNvSpPr>
            <a:spLocks noGrp="1"/>
          </p:cNvSpPr>
          <p:nvPr>
            <p:ph type="sldNum" sz="quarter" idx="5"/>
          </p:nvPr>
        </p:nvSpPr>
        <p:spPr/>
        <p:txBody>
          <a:bodyPr/>
          <a:lstStyle/>
          <a:p>
            <a:fld id="{A5C8B7C7-CF6B-486F-9ED6-217EF0005DCE}" type="slidenum">
              <a:rPr lang="en-CA" smtClean="0"/>
              <a:t>8</a:t>
            </a:fld>
            <a:endParaRPr lang="en-CA"/>
          </a:p>
        </p:txBody>
      </p:sp>
    </p:spTree>
    <p:extLst>
      <p:ext uri="{BB962C8B-B14F-4D97-AF65-F5344CB8AC3E}">
        <p14:creationId xmlns:p14="http://schemas.microsoft.com/office/powerpoint/2010/main" val="1607537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looking at the overall trend, I wanted to know how reliable the topic labels were. </a:t>
            </a:r>
          </a:p>
          <a:p>
            <a:endParaRPr lang="en-US" dirty="0"/>
          </a:p>
          <a:p>
            <a:r>
              <a:rPr lang="en-US" dirty="0"/>
              <a:t>So I tested the agreement between my hand coding and the zero-shot model labels using Cohen’s kappa and </a:t>
            </a:r>
            <a:r>
              <a:rPr lang="en-US" dirty="0" err="1"/>
              <a:t>Krippendorff’s</a:t>
            </a:r>
            <a:r>
              <a:rPr lang="en-US" dirty="0"/>
              <a:t> alpha. As you can see, the overall pattern is mixed. Some categories performed more reliably than others. The strongest were affordability, skills and training, and early learning, while the other categories showed weaker agreement. </a:t>
            </a:r>
          </a:p>
          <a:p>
            <a:endParaRPr lang="en-US" dirty="0"/>
          </a:p>
          <a:p>
            <a:r>
              <a:rPr lang="en-US" dirty="0"/>
              <a:t>Which suggests that some ways of talking about education are easier to identify consistently than others, and points to the need for further refinement of my codebook. </a:t>
            </a:r>
            <a:endParaRPr lang="en-CA" dirty="0"/>
          </a:p>
        </p:txBody>
      </p:sp>
      <p:sp>
        <p:nvSpPr>
          <p:cNvPr id="4" name="Slide Number Placeholder 3"/>
          <p:cNvSpPr>
            <a:spLocks noGrp="1"/>
          </p:cNvSpPr>
          <p:nvPr>
            <p:ph type="sldNum" sz="quarter" idx="5"/>
          </p:nvPr>
        </p:nvSpPr>
        <p:spPr/>
        <p:txBody>
          <a:bodyPr/>
          <a:lstStyle/>
          <a:p>
            <a:fld id="{A5C8B7C7-CF6B-486F-9ED6-217EF0005DCE}" type="slidenum">
              <a:rPr lang="en-CA" smtClean="0"/>
              <a:t>9</a:t>
            </a:fld>
            <a:endParaRPr lang="en-CA"/>
          </a:p>
        </p:txBody>
      </p:sp>
    </p:spTree>
    <p:extLst>
      <p:ext uri="{BB962C8B-B14F-4D97-AF65-F5344CB8AC3E}">
        <p14:creationId xmlns:p14="http://schemas.microsoft.com/office/powerpoint/2010/main" val="1816424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next, I looked at the overall proportions of each education topic in the classified corpus. The main takeaway here is that education is distributed across multiple recurring topic clusters. And again, the strongest and clearest patterns, at least in this version of the project, are in affordability, skills and training, and early learning.</a:t>
            </a:r>
          </a:p>
          <a:p>
            <a:endParaRPr lang="en-US" dirty="0"/>
          </a:p>
          <a:p>
            <a:r>
              <a:rPr lang="en-US" dirty="0"/>
              <a:t>A note on the minority language and Indigenous education topics, which were not captured by the AI coding, even though I saw speeches about this topic, which could suggest that these topics may be overlapping or are not distinct enough for the classifier to pick up on them consistently. </a:t>
            </a:r>
            <a:endParaRPr lang="en-CA" dirty="0"/>
          </a:p>
        </p:txBody>
      </p:sp>
      <p:sp>
        <p:nvSpPr>
          <p:cNvPr id="4" name="Slide Number Placeholder 3"/>
          <p:cNvSpPr>
            <a:spLocks noGrp="1"/>
          </p:cNvSpPr>
          <p:nvPr>
            <p:ph type="sldNum" sz="quarter" idx="5"/>
          </p:nvPr>
        </p:nvSpPr>
        <p:spPr/>
        <p:txBody>
          <a:bodyPr/>
          <a:lstStyle/>
          <a:p>
            <a:fld id="{A5C8B7C7-CF6B-486F-9ED6-217EF0005DCE}" type="slidenum">
              <a:rPr lang="en-CA" smtClean="0"/>
              <a:t>10</a:t>
            </a:fld>
            <a:endParaRPr lang="en-CA"/>
          </a:p>
        </p:txBody>
      </p:sp>
    </p:spTree>
    <p:extLst>
      <p:ext uri="{BB962C8B-B14F-4D97-AF65-F5344CB8AC3E}">
        <p14:creationId xmlns:p14="http://schemas.microsoft.com/office/powerpoint/2010/main" val="2421157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this shows is that the composition of education references changes over time. Different education topics become more or less prominent in different periods, which suggests that federal education discourse is politically contingent and responsive to political contexts, wherein certain aspects of education may be more salient. </a:t>
            </a:r>
            <a:endParaRPr lang="en-CA" dirty="0"/>
          </a:p>
          <a:p>
            <a:endParaRPr lang="en-CA" dirty="0"/>
          </a:p>
          <a:p>
            <a:r>
              <a:rPr lang="en-CA" dirty="0"/>
              <a:t>Older parties appear to talk about federalism more (issues over control changed over time?)</a:t>
            </a:r>
          </a:p>
          <a:p>
            <a:endParaRPr lang="en-CA" dirty="0"/>
          </a:p>
          <a:p>
            <a:r>
              <a:rPr lang="en-US" dirty="0"/>
              <a:t>One plausible interpretation of this is that discussions about authority over education decline, because the jurisdictional baseline in Canadian education is already settled. Over time, MPs may talk less about who has authority and more about specific policy issues like affordability, university research, childcare, or skills. </a:t>
            </a:r>
            <a:endParaRPr lang="en-CA" dirty="0"/>
          </a:p>
        </p:txBody>
      </p:sp>
      <p:sp>
        <p:nvSpPr>
          <p:cNvPr id="4" name="Slide Number Placeholder 3"/>
          <p:cNvSpPr>
            <a:spLocks noGrp="1"/>
          </p:cNvSpPr>
          <p:nvPr>
            <p:ph type="sldNum" sz="quarter" idx="5"/>
          </p:nvPr>
        </p:nvSpPr>
        <p:spPr/>
        <p:txBody>
          <a:bodyPr/>
          <a:lstStyle/>
          <a:p>
            <a:fld id="{A5C8B7C7-CF6B-486F-9ED6-217EF0005DCE}" type="slidenum">
              <a:rPr lang="en-CA" smtClean="0"/>
              <a:t>11</a:t>
            </a:fld>
            <a:endParaRPr lang="en-CA"/>
          </a:p>
        </p:txBody>
      </p:sp>
    </p:spTree>
    <p:extLst>
      <p:ext uri="{BB962C8B-B14F-4D97-AF65-F5344CB8AC3E}">
        <p14:creationId xmlns:p14="http://schemas.microsoft.com/office/powerpoint/2010/main" val="3191436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And lastly, I wanted to look for any party differences, both across time and across modern parties.  </a:t>
            </a:r>
          </a:p>
          <a:p>
            <a:endParaRPr lang="en-CA" dirty="0"/>
          </a:p>
          <a:p>
            <a:r>
              <a:rPr lang="en-CA" dirty="0"/>
              <a:t>What I found particularly interesting was the older parties, the CCF, Social Credit, and the old Conservative parties were primarily talking about education through a federalism lens, which aligns with the general trend I pointed out in the previous figure. </a:t>
            </a:r>
          </a:p>
          <a:p>
            <a:endParaRPr lang="en-CA" dirty="0"/>
          </a:p>
          <a:p>
            <a:r>
              <a:rPr lang="en-CA" dirty="0"/>
              <a:t>Also interestingly, the modern Conservatives and Liberals parties appear to have </a:t>
            </a:r>
            <a:r>
              <a:rPr lang="en-US" dirty="0"/>
              <a:t>real differences in how they talk about education. Conservatives appear somewhat higher than Liberals in early learning, university research, and skill acquisition, which suggests that federal education discourse differs by party, possibly </a:t>
            </a:r>
            <a:r>
              <a:rPr lang="en-CA" dirty="0"/>
              <a:t>due to strategic or agenda reasons. </a:t>
            </a:r>
          </a:p>
          <a:p>
            <a:endParaRPr lang="en-CA" dirty="0"/>
          </a:p>
          <a:p>
            <a:r>
              <a:rPr lang="en-CA" dirty="0"/>
              <a:t>Overall, though we can see that most parties tend to talk about skills acquisitions, early learning and child care, and university research when talking about education. </a:t>
            </a:r>
          </a:p>
        </p:txBody>
      </p:sp>
      <p:sp>
        <p:nvSpPr>
          <p:cNvPr id="4" name="Slide Number Placeholder 3"/>
          <p:cNvSpPr>
            <a:spLocks noGrp="1"/>
          </p:cNvSpPr>
          <p:nvPr>
            <p:ph type="sldNum" sz="quarter" idx="5"/>
          </p:nvPr>
        </p:nvSpPr>
        <p:spPr/>
        <p:txBody>
          <a:bodyPr/>
          <a:lstStyle/>
          <a:p>
            <a:fld id="{A5C8B7C7-CF6B-486F-9ED6-217EF0005DCE}" type="slidenum">
              <a:rPr lang="en-CA" smtClean="0"/>
              <a:t>12</a:t>
            </a:fld>
            <a:endParaRPr lang="en-CA"/>
          </a:p>
        </p:txBody>
      </p:sp>
    </p:spTree>
    <p:extLst>
      <p:ext uri="{BB962C8B-B14F-4D97-AF65-F5344CB8AC3E}">
        <p14:creationId xmlns:p14="http://schemas.microsoft.com/office/powerpoint/2010/main" val="2642327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So, this project offered some preliminary answers to my research question: how do MPS talk about education. </a:t>
            </a:r>
          </a:p>
          <a:p>
            <a:endParaRPr lang="en-CA" dirty="0"/>
          </a:p>
          <a:p>
            <a:r>
              <a:rPr lang="en-CA" dirty="0"/>
              <a:t>I’ve found that they talk about it through topic clusters, primarily affordability, skills and training, and early learning. These topics also vary by year and across parties, which suggests that there could be strategic or temporal dimensions to how education is discussed at the national level. </a:t>
            </a:r>
          </a:p>
          <a:p>
            <a:endParaRPr lang="en-CA" dirty="0"/>
          </a:p>
          <a:p>
            <a:r>
              <a:rPr lang="en-CA" dirty="0"/>
              <a:t>And finally, I also found that MPs reference education in ways that were not in the codebook I derived, including religion and schooling, immigration/international students, and general schooling governance from their provinces. </a:t>
            </a:r>
          </a:p>
        </p:txBody>
      </p:sp>
      <p:sp>
        <p:nvSpPr>
          <p:cNvPr id="4" name="Slide Number Placeholder 3"/>
          <p:cNvSpPr>
            <a:spLocks noGrp="1"/>
          </p:cNvSpPr>
          <p:nvPr>
            <p:ph type="sldNum" sz="quarter" idx="5"/>
          </p:nvPr>
        </p:nvSpPr>
        <p:spPr/>
        <p:txBody>
          <a:bodyPr/>
          <a:lstStyle/>
          <a:p>
            <a:fld id="{A5C8B7C7-CF6B-486F-9ED6-217EF0005DCE}" type="slidenum">
              <a:rPr lang="en-CA" smtClean="0"/>
              <a:t>13</a:t>
            </a:fld>
            <a:endParaRPr lang="en-CA"/>
          </a:p>
        </p:txBody>
      </p:sp>
    </p:spTree>
    <p:extLst>
      <p:ext uri="{BB962C8B-B14F-4D97-AF65-F5344CB8AC3E}">
        <p14:creationId xmlns:p14="http://schemas.microsoft.com/office/powerpoint/2010/main" val="1723441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In future iterations of the project, I would like to further refine the codebook, focusing on either improving or removing those weaker categories</a:t>
            </a:r>
          </a:p>
          <a:p>
            <a:endParaRPr lang="en-CA" dirty="0"/>
          </a:p>
          <a:p>
            <a:r>
              <a:rPr lang="en-CA" dirty="0"/>
              <a:t>Which will then allow me to train or retrain new classifiers to identify additional speech categories</a:t>
            </a:r>
          </a:p>
          <a:p>
            <a:endParaRPr lang="en-CA" dirty="0"/>
          </a:p>
          <a:p>
            <a:r>
              <a:rPr lang="en-CA" dirty="0"/>
              <a:t>And lastly, I think it would be interesting to inspect those spikes in topic </a:t>
            </a:r>
            <a:r>
              <a:rPr lang="en-CA" dirty="0" err="1"/>
              <a:t>prevalace</a:t>
            </a:r>
            <a:r>
              <a:rPr lang="en-CA" dirty="0"/>
              <a:t> further and see whether there are any connections to historical political events in Canadian history. </a:t>
            </a:r>
          </a:p>
          <a:p>
            <a:endParaRPr lang="en-CA" dirty="0"/>
          </a:p>
          <a:p>
            <a:r>
              <a:rPr lang="en-CA" dirty="0"/>
              <a:t>So, now that I’ve identified some patterns in the Hansard speeches and created a workflow, I can use and refine, I can continue to map the ways in which in which MPs talk about education. </a:t>
            </a:r>
          </a:p>
        </p:txBody>
      </p:sp>
      <p:sp>
        <p:nvSpPr>
          <p:cNvPr id="4" name="Slide Number Placeholder 3"/>
          <p:cNvSpPr>
            <a:spLocks noGrp="1"/>
          </p:cNvSpPr>
          <p:nvPr>
            <p:ph type="sldNum" sz="quarter" idx="5"/>
          </p:nvPr>
        </p:nvSpPr>
        <p:spPr/>
        <p:txBody>
          <a:bodyPr/>
          <a:lstStyle/>
          <a:p>
            <a:fld id="{A5C8B7C7-CF6B-486F-9ED6-217EF0005DCE}" type="slidenum">
              <a:rPr lang="en-CA" smtClean="0"/>
              <a:t>14</a:t>
            </a:fld>
            <a:endParaRPr lang="en-CA"/>
          </a:p>
        </p:txBody>
      </p:sp>
    </p:spTree>
    <p:extLst>
      <p:ext uri="{BB962C8B-B14F-4D97-AF65-F5344CB8AC3E}">
        <p14:creationId xmlns:p14="http://schemas.microsoft.com/office/powerpoint/2010/main" val="9266920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Thank you, are there any questions? </a:t>
            </a:r>
          </a:p>
          <a:p>
            <a:endParaRPr lang="en-CA" dirty="0"/>
          </a:p>
          <a:p>
            <a:r>
              <a:rPr lang="en-CA" dirty="0"/>
              <a:t>Look at the federal vs the provincial speeches and look for coordination across parties and possibly operationalize </a:t>
            </a:r>
          </a:p>
          <a:p>
            <a:endParaRPr lang="en-CA" dirty="0"/>
          </a:p>
          <a:p>
            <a:r>
              <a:rPr lang="en-CA" dirty="0"/>
              <a:t>Policy and multilevel governance </a:t>
            </a:r>
          </a:p>
          <a:p>
            <a:endParaRPr lang="en-CA" dirty="0"/>
          </a:p>
          <a:p>
            <a:r>
              <a:rPr lang="en-CA" dirty="0"/>
              <a:t>Talk to </a:t>
            </a:r>
            <a:r>
              <a:rPr lang="en-CA" dirty="0" err="1"/>
              <a:t>alcantara</a:t>
            </a:r>
            <a:r>
              <a:rPr lang="en-CA" dirty="0"/>
              <a:t> about this </a:t>
            </a:r>
          </a:p>
          <a:p>
            <a:endParaRPr lang="en-CA" dirty="0"/>
          </a:p>
          <a:p>
            <a:r>
              <a:rPr lang="en-CA" dirty="0"/>
              <a:t>Minority education and indigenous education; can be expanded to compare with the states…brown vs board of education, civil rights act…map this and see what this says about education and race</a:t>
            </a:r>
          </a:p>
          <a:p>
            <a:endParaRPr lang="en-CA" dirty="0"/>
          </a:p>
          <a:p>
            <a:r>
              <a:rPr lang="en-CA" dirty="0"/>
              <a:t>Can even do every country </a:t>
            </a:r>
          </a:p>
          <a:p>
            <a:endParaRPr lang="en-CA" dirty="0"/>
          </a:p>
          <a:p>
            <a:r>
              <a:rPr lang="en-CA" dirty="0"/>
              <a:t>Subtopics as a research note? For a journal….</a:t>
            </a:r>
          </a:p>
          <a:p>
            <a:endParaRPr lang="en-CA" dirty="0"/>
          </a:p>
          <a:p>
            <a:endParaRPr lang="en-CA" dirty="0"/>
          </a:p>
          <a:p>
            <a:r>
              <a:rPr lang="en-CA" dirty="0"/>
              <a:t>Include a general trend of the speeches in general in the final paper</a:t>
            </a:r>
          </a:p>
          <a:p>
            <a:endParaRPr lang="en-CA" dirty="0"/>
          </a:p>
          <a:p>
            <a:r>
              <a:rPr lang="en-CA" dirty="0"/>
              <a:t>Length of speech…</a:t>
            </a:r>
          </a:p>
          <a:p>
            <a:endParaRPr lang="en-CA" dirty="0"/>
          </a:p>
          <a:p>
            <a:endParaRPr lang="en-CA" dirty="0"/>
          </a:p>
          <a:p>
            <a:r>
              <a:rPr lang="en-CA" dirty="0"/>
              <a:t>Tell him about the length of speech variable and he could give me the code to make it easier…</a:t>
            </a:r>
          </a:p>
          <a:p>
            <a:endParaRPr lang="en-CA" dirty="0"/>
          </a:p>
          <a:p>
            <a:r>
              <a:rPr lang="en-CA" dirty="0"/>
              <a:t>Taking the sample</a:t>
            </a:r>
          </a:p>
          <a:p>
            <a:endParaRPr lang="en-CA" dirty="0"/>
          </a:p>
          <a:p>
            <a:r>
              <a:rPr lang="en-CA" dirty="0"/>
              <a:t>Starting just at 60s, as the early speeches are not politically relevant</a:t>
            </a:r>
          </a:p>
          <a:p>
            <a:endParaRPr lang="en-CA" dirty="0"/>
          </a:p>
          <a:p>
            <a:r>
              <a:rPr lang="en-CA" dirty="0"/>
              <a:t>Maybe including the old parties are not interesting </a:t>
            </a:r>
          </a:p>
          <a:p>
            <a:endParaRPr lang="en-CA" dirty="0"/>
          </a:p>
          <a:p>
            <a:endParaRPr lang="en-CA" dirty="0"/>
          </a:p>
          <a:p>
            <a:r>
              <a:rPr lang="en-CA" dirty="0"/>
              <a:t>Are they in question period or not and there is a column in the Hansard that tells this…</a:t>
            </a:r>
          </a:p>
          <a:p>
            <a:r>
              <a:rPr lang="en-CA" dirty="0"/>
              <a:t>Control </a:t>
            </a:r>
            <a:r>
              <a:rPr lang="en-CA"/>
              <a:t>for this… </a:t>
            </a:r>
            <a:endParaRPr lang="en-CA" dirty="0"/>
          </a:p>
        </p:txBody>
      </p:sp>
      <p:sp>
        <p:nvSpPr>
          <p:cNvPr id="4" name="Slide Number Placeholder 3"/>
          <p:cNvSpPr>
            <a:spLocks noGrp="1"/>
          </p:cNvSpPr>
          <p:nvPr>
            <p:ph type="sldNum" sz="quarter" idx="5"/>
          </p:nvPr>
        </p:nvSpPr>
        <p:spPr/>
        <p:txBody>
          <a:bodyPr/>
          <a:lstStyle/>
          <a:p>
            <a:fld id="{A5C8B7C7-CF6B-486F-9ED6-217EF0005DCE}" type="slidenum">
              <a:rPr lang="en-CA" smtClean="0"/>
              <a:t>15</a:t>
            </a:fld>
            <a:endParaRPr lang="en-CA"/>
          </a:p>
        </p:txBody>
      </p:sp>
    </p:spTree>
    <p:extLst>
      <p:ext uri="{BB962C8B-B14F-4D97-AF65-F5344CB8AC3E}">
        <p14:creationId xmlns:p14="http://schemas.microsoft.com/office/powerpoint/2010/main" val="339267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702AD-0C70-21CD-BD6E-7A68425662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6A0F3D1-8064-504B-D63D-DE400E193D2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CE0A4F20-000A-FFE9-A14B-121CC0C1F13D}"/>
              </a:ext>
            </a:extLst>
          </p:cNvPr>
          <p:cNvSpPr>
            <a:spLocks noGrp="1"/>
          </p:cNvSpPr>
          <p:nvPr>
            <p:ph type="dt" sz="half" idx="10"/>
          </p:nvPr>
        </p:nvSpPr>
        <p:spPr/>
        <p:txBody>
          <a:bodyPr/>
          <a:lstStyle/>
          <a:p>
            <a:fld id="{C589A666-F039-49C9-AE86-5231099A296F}" type="datetimeFigureOut">
              <a:rPr lang="en-CA" smtClean="0"/>
              <a:t>2026-04-12</a:t>
            </a:fld>
            <a:endParaRPr lang="en-CA"/>
          </a:p>
        </p:txBody>
      </p:sp>
      <p:sp>
        <p:nvSpPr>
          <p:cNvPr id="5" name="Footer Placeholder 4">
            <a:extLst>
              <a:ext uri="{FF2B5EF4-FFF2-40B4-BE49-F238E27FC236}">
                <a16:creationId xmlns:a16="http://schemas.microsoft.com/office/drawing/2014/main" id="{2C946648-D5A7-6961-310B-5273CEC6107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18DC17B-2C36-642F-B5E9-DB4D81EE20BB}"/>
              </a:ext>
            </a:extLst>
          </p:cNvPr>
          <p:cNvSpPr>
            <a:spLocks noGrp="1"/>
          </p:cNvSpPr>
          <p:nvPr>
            <p:ph type="sldNum" sz="quarter" idx="12"/>
          </p:nvPr>
        </p:nvSpPr>
        <p:spPr/>
        <p:txBody>
          <a:bodyPr/>
          <a:lstStyle/>
          <a:p>
            <a:fld id="{2219D974-8290-482B-AE27-78E6D2F19667}" type="slidenum">
              <a:rPr lang="en-CA" smtClean="0"/>
              <a:t>‹#›</a:t>
            </a:fld>
            <a:endParaRPr lang="en-CA"/>
          </a:p>
        </p:txBody>
      </p:sp>
    </p:spTree>
    <p:extLst>
      <p:ext uri="{BB962C8B-B14F-4D97-AF65-F5344CB8AC3E}">
        <p14:creationId xmlns:p14="http://schemas.microsoft.com/office/powerpoint/2010/main" val="6111930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07500-8ECD-AD6B-CAE7-50AC9CE62A8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9637638-68C8-FF48-5D65-B05B0F9F54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E859419-DD0D-D68A-BC8E-4D450F3BAE9B}"/>
              </a:ext>
            </a:extLst>
          </p:cNvPr>
          <p:cNvSpPr>
            <a:spLocks noGrp="1"/>
          </p:cNvSpPr>
          <p:nvPr>
            <p:ph type="dt" sz="half" idx="10"/>
          </p:nvPr>
        </p:nvSpPr>
        <p:spPr/>
        <p:txBody>
          <a:bodyPr/>
          <a:lstStyle/>
          <a:p>
            <a:fld id="{C589A666-F039-49C9-AE86-5231099A296F}" type="datetimeFigureOut">
              <a:rPr lang="en-CA" smtClean="0"/>
              <a:t>2026-04-12</a:t>
            </a:fld>
            <a:endParaRPr lang="en-CA"/>
          </a:p>
        </p:txBody>
      </p:sp>
      <p:sp>
        <p:nvSpPr>
          <p:cNvPr id="5" name="Footer Placeholder 4">
            <a:extLst>
              <a:ext uri="{FF2B5EF4-FFF2-40B4-BE49-F238E27FC236}">
                <a16:creationId xmlns:a16="http://schemas.microsoft.com/office/drawing/2014/main" id="{F08EB0BE-1B1F-77CD-C8E8-A440094274F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904B038-2D85-3D5E-62F1-FECBAB15527F}"/>
              </a:ext>
            </a:extLst>
          </p:cNvPr>
          <p:cNvSpPr>
            <a:spLocks noGrp="1"/>
          </p:cNvSpPr>
          <p:nvPr>
            <p:ph type="sldNum" sz="quarter" idx="12"/>
          </p:nvPr>
        </p:nvSpPr>
        <p:spPr/>
        <p:txBody>
          <a:bodyPr/>
          <a:lstStyle/>
          <a:p>
            <a:fld id="{2219D974-8290-482B-AE27-78E6D2F19667}" type="slidenum">
              <a:rPr lang="en-CA" smtClean="0"/>
              <a:t>‹#›</a:t>
            </a:fld>
            <a:endParaRPr lang="en-CA"/>
          </a:p>
        </p:txBody>
      </p:sp>
    </p:spTree>
    <p:extLst>
      <p:ext uri="{BB962C8B-B14F-4D97-AF65-F5344CB8AC3E}">
        <p14:creationId xmlns:p14="http://schemas.microsoft.com/office/powerpoint/2010/main" val="3218064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F2959-0339-D193-6AAA-7E01FAACE5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688EDF4F-38E3-073C-50A9-4811CB0948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6DF6FB-5CAD-B02F-E3E4-1F7034D46B1B}"/>
              </a:ext>
            </a:extLst>
          </p:cNvPr>
          <p:cNvSpPr>
            <a:spLocks noGrp="1"/>
          </p:cNvSpPr>
          <p:nvPr>
            <p:ph type="dt" sz="half" idx="10"/>
          </p:nvPr>
        </p:nvSpPr>
        <p:spPr/>
        <p:txBody>
          <a:bodyPr/>
          <a:lstStyle/>
          <a:p>
            <a:fld id="{C589A666-F039-49C9-AE86-5231099A296F}" type="datetimeFigureOut">
              <a:rPr lang="en-CA" smtClean="0"/>
              <a:t>2026-04-12</a:t>
            </a:fld>
            <a:endParaRPr lang="en-CA"/>
          </a:p>
        </p:txBody>
      </p:sp>
      <p:sp>
        <p:nvSpPr>
          <p:cNvPr id="5" name="Footer Placeholder 4">
            <a:extLst>
              <a:ext uri="{FF2B5EF4-FFF2-40B4-BE49-F238E27FC236}">
                <a16:creationId xmlns:a16="http://schemas.microsoft.com/office/drawing/2014/main" id="{5ABF108D-13C5-8FF2-A11E-AF91ED0B534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CBDAEF6-EA4D-FA9C-8382-DE7939EB00C3}"/>
              </a:ext>
            </a:extLst>
          </p:cNvPr>
          <p:cNvSpPr>
            <a:spLocks noGrp="1"/>
          </p:cNvSpPr>
          <p:nvPr>
            <p:ph type="sldNum" sz="quarter" idx="12"/>
          </p:nvPr>
        </p:nvSpPr>
        <p:spPr/>
        <p:txBody>
          <a:bodyPr/>
          <a:lstStyle/>
          <a:p>
            <a:fld id="{2219D974-8290-482B-AE27-78E6D2F19667}" type="slidenum">
              <a:rPr lang="en-CA" smtClean="0"/>
              <a:t>‹#›</a:t>
            </a:fld>
            <a:endParaRPr lang="en-CA"/>
          </a:p>
        </p:txBody>
      </p:sp>
    </p:spTree>
    <p:extLst>
      <p:ext uri="{BB962C8B-B14F-4D97-AF65-F5344CB8AC3E}">
        <p14:creationId xmlns:p14="http://schemas.microsoft.com/office/powerpoint/2010/main" val="2228007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25DFD-68F9-EEBF-887D-286D5336B0EC}"/>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FD9F172-AF78-B285-43C4-5F358DC385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9C7B908F-45BB-F3C0-F15B-71722214D8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7838E7CB-B9AD-08BA-E146-5AF3B46CEB6B}"/>
              </a:ext>
            </a:extLst>
          </p:cNvPr>
          <p:cNvSpPr>
            <a:spLocks noGrp="1"/>
          </p:cNvSpPr>
          <p:nvPr>
            <p:ph type="dt" sz="half" idx="10"/>
          </p:nvPr>
        </p:nvSpPr>
        <p:spPr/>
        <p:txBody>
          <a:bodyPr/>
          <a:lstStyle/>
          <a:p>
            <a:fld id="{C589A666-F039-49C9-AE86-5231099A296F}" type="datetimeFigureOut">
              <a:rPr lang="en-CA" smtClean="0"/>
              <a:t>2026-04-12</a:t>
            </a:fld>
            <a:endParaRPr lang="en-CA"/>
          </a:p>
        </p:txBody>
      </p:sp>
      <p:sp>
        <p:nvSpPr>
          <p:cNvPr id="6" name="Footer Placeholder 5">
            <a:extLst>
              <a:ext uri="{FF2B5EF4-FFF2-40B4-BE49-F238E27FC236}">
                <a16:creationId xmlns:a16="http://schemas.microsoft.com/office/drawing/2014/main" id="{430E06D0-8BE1-3238-7B7E-2C6D344E7CA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06D4CAF-FFB8-0A29-B447-92D3451D0A80}"/>
              </a:ext>
            </a:extLst>
          </p:cNvPr>
          <p:cNvSpPr>
            <a:spLocks noGrp="1"/>
          </p:cNvSpPr>
          <p:nvPr>
            <p:ph type="sldNum" sz="quarter" idx="12"/>
          </p:nvPr>
        </p:nvSpPr>
        <p:spPr/>
        <p:txBody>
          <a:bodyPr/>
          <a:lstStyle/>
          <a:p>
            <a:fld id="{2219D974-8290-482B-AE27-78E6D2F19667}" type="slidenum">
              <a:rPr lang="en-CA" smtClean="0"/>
              <a:t>‹#›</a:t>
            </a:fld>
            <a:endParaRPr lang="en-CA"/>
          </a:p>
        </p:txBody>
      </p:sp>
    </p:spTree>
    <p:extLst>
      <p:ext uri="{BB962C8B-B14F-4D97-AF65-F5344CB8AC3E}">
        <p14:creationId xmlns:p14="http://schemas.microsoft.com/office/powerpoint/2010/main" val="2729166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6CB98-2B4A-5828-73AF-EEDEC88BED3D}"/>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C39FA9B-49BA-8427-B281-3093B10A26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1804C4A-061A-8D52-3905-AFB027E156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BAF0ED67-B1C4-FE8B-31A1-5369331859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549408-EFE2-3110-5C9E-260953520E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372DAF66-02D2-C9FC-36E3-0710DA238040}"/>
              </a:ext>
            </a:extLst>
          </p:cNvPr>
          <p:cNvSpPr>
            <a:spLocks noGrp="1"/>
          </p:cNvSpPr>
          <p:nvPr>
            <p:ph type="dt" sz="half" idx="10"/>
          </p:nvPr>
        </p:nvSpPr>
        <p:spPr/>
        <p:txBody>
          <a:bodyPr/>
          <a:lstStyle/>
          <a:p>
            <a:fld id="{C589A666-F039-49C9-AE86-5231099A296F}" type="datetimeFigureOut">
              <a:rPr lang="en-CA" smtClean="0"/>
              <a:t>2026-04-12</a:t>
            </a:fld>
            <a:endParaRPr lang="en-CA"/>
          </a:p>
        </p:txBody>
      </p:sp>
      <p:sp>
        <p:nvSpPr>
          <p:cNvPr id="8" name="Footer Placeholder 7">
            <a:extLst>
              <a:ext uri="{FF2B5EF4-FFF2-40B4-BE49-F238E27FC236}">
                <a16:creationId xmlns:a16="http://schemas.microsoft.com/office/drawing/2014/main" id="{D4570166-99B6-6404-533F-35350470A104}"/>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F66AC9C5-056C-8BF2-E102-8D79D7E21454}"/>
              </a:ext>
            </a:extLst>
          </p:cNvPr>
          <p:cNvSpPr>
            <a:spLocks noGrp="1"/>
          </p:cNvSpPr>
          <p:nvPr>
            <p:ph type="sldNum" sz="quarter" idx="12"/>
          </p:nvPr>
        </p:nvSpPr>
        <p:spPr/>
        <p:txBody>
          <a:bodyPr/>
          <a:lstStyle/>
          <a:p>
            <a:fld id="{2219D974-8290-482B-AE27-78E6D2F19667}" type="slidenum">
              <a:rPr lang="en-CA" smtClean="0"/>
              <a:t>‹#›</a:t>
            </a:fld>
            <a:endParaRPr lang="en-CA"/>
          </a:p>
        </p:txBody>
      </p:sp>
    </p:spTree>
    <p:extLst>
      <p:ext uri="{BB962C8B-B14F-4D97-AF65-F5344CB8AC3E}">
        <p14:creationId xmlns:p14="http://schemas.microsoft.com/office/powerpoint/2010/main" val="2394585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45A09-1245-B329-1E22-820385C5DBE6}"/>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0584B326-6C88-8601-DF35-64971C1729A6}"/>
              </a:ext>
            </a:extLst>
          </p:cNvPr>
          <p:cNvSpPr>
            <a:spLocks noGrp="1"/>
          </p:cNvSpPr>
          <p:nvPr>
            <p:ph type="dt" sz="half" idx="10"/>
          </p:nvPr>
        </p:nvSpPr>
        <p:spPr/>
        <p:txBody>
          <a:bodyPr/>
          <a:lstStyle/>
          <a:p>
            <a:fld id="{C589A666-F039-49C9-AE86-5231099A296F}" type="datetimeFigureOut">
              <a:rPr lang="en-CA" smtClean="0"/>
              <a:t>2026-04-12</a:t>
            </a:fld>
            <a:endParaRPr lang="en-CA"/>
          </a:p>
        </p:txBody>
      </p:sp>
      <p:sp>
        <p:nvSpPr>
          <p:cNvPr id="4" name="Footer Placeholder 3">
            <a:extLst>
              <a:ext uri="{FF2B5EF4-FFF2-40B4-BE49-F238E27FC236}">
                <a16:creationId xmlns:a16="http://schemas.microsoft.com/office/drawing/2014/main" id="{71254987-484D-771E-E18C-FA02195A80E1}"/>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43FA1A8-E5BD-E382-02E5-0CF4E44226CC}"/>
              </a:ext>
            </a:extLst>
          </p:cNvPr>
          <p:cNvSpPr>
            <a:spLocks noGrp="1"/>
          </p:cNvSpPr>
          <p:nvPr>
            <p:ph type="sldNum" sz="quarter" idx="12"/>
          </p:nvPr>
        </p:nvSpPr>
        <p:spPr/>
        <p:txBody>
          <a:bodyPr/>
          <a:lstStyle/>
          <a:p>
            <a:fld id="{2219D974-8290-482B-AE27-78E6D2F19667}" type="slidenum">
              <a:rPr lang="en-CA" smtClean="0"/>
              <a:t>‹#›</a:t>
            </a:fld>
            <a:endParaRPr lang="en-CA"/>
          </a:p>
        </p:txBody>
      </p:sp>
    </p:spTree>
    <p:extLst>
      <p:ext uri="{BB962C8B-B14F-4D97-AF65-F5344CB8AC3E}">
        <p14:creationId xmlns:p14="http://schemas.microsoft.com/office/powerpoint/2010/main" val="1751257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158F73-71AB-67FB-3642-B13BAE5BD33A}"/>
              </a:ext>
            </a:extLst>
          </p:cNvPr>
          <p:cNvSpPr>
            <a:spLocks noGrp="1"/>
          </p:cNvSpPr>
          <p:nvPr>
            <p:ph type="dt" sz="half" idx="10"/>
          </p:nvPr>
        </p:nvSpPr>
        <p:spPr/>
        <p:txBody>
          <a:bodyPr/>
          <a:lstStyle/>
          <a:p>
            <a:fld id="{C589A666-F039-49C9-AE86-5231099A296F}" type="datetimeFigureOut">
              <a:rPr lang="en-CA" smtClean="0"/>
              <a:t>2026-04-12</a:t>
            </a:fld>
            <a:endParaRPr lang="en-CA"/>
          </a:p>
        </p:txBody>
      </p:sp>
      <p:sp>
        <p:nvSpPr>
          <p:cNvPr id="3" name="Footer Placeholder 2">
            <a:extLst>
              <a:ext uri="{FF2B5EF4-FFF2-40B4-BE49-F238E27FC236}">
                <a16:creationId xmlns:a16="http://schemas.microsoft.com/office/drawing/2014/main" id="{CE159B78-0429-1B0E-A5ED-AF0F9D7B325C}"/>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68054053-2609-7441-BBBE-BD6F84625E92}"/>
              </a:ext>
            </a:extLst>
          </p:cNvPr>
          <p:cNvSpPr>
            <a:spLocks noGrp="1"/>
          </p:cNvSpPr>
          <p:nvPr>
            <p:ph type="sldNum" sz="quarter" idx="12"/>
          </p:nvPr>
        </p:nvSpPr>
        <p:spPr/>
        <p:txBody>
          <a:bodyPr/>
          <a:lstStyle/>
          <a:p>
            <a:fld id="{2219D974-8290-482B-AE27-78E6D2F19667}" type="slidenum">
              <a:rPr lang="en-CA" smtClean="0"/>
              <a:t>‹#›</a:t>
            </a:fld>
            <a:endParaRPr lang="en-CA"/>
          </a:p>
        </p:txBody>
      </p:sp>
    </p:spTree>
    <p:extLst>
      <p:ext uri="{BB962C8B-B14F-4D97-AF65-F5344CB8AC3E}">
        <p14:creationId xmlns:p14="http://schemas.microsoft.com/office/powerpoint/2010/main" val="1672243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E7BE7-5559-8D7B-D44F-869B8D94B1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6E4370A0-E59A-8E18-EFCD-3A94BFEF40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5304E9C1-C631-0EB7-22F3-8D61A6802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13F99E-7B64-4127-3E2F-39083F0A7AD0}"/>
              </a:ext>
            </a:extLst>
          </p:cNvPr>
          <p:cNvSpPr>
            <a:spLocks noGrp="1"/>
          </p:cNvSpPr>
          <p:nvPr>
            <p:ph type="dt" sz="half" idx="10"/>
          </p:nvPr>
        </p:nvSpPr>
        <p:spPr/>
        <p:txBody>
          <a:bodyPr/>
          <a:lstStyle/>
          <a:p>
            <a:fld id="{C589A666-F039-49C9-AE86-5231099A296F}" type="datetimeFigureOut">
              <a:rPr lang="en-CA" smtClean="0"/>
              <a:t>2026-04-12</a:t>
            </a:fld>
            <a:endParaRPr lang="en-CA"/>
          </a:p>
        </p:txBody>
      </p:sp>
      <p:sp>
        <p:nvSpPr>
          <p:cNvPr id="6" name="Footer Placeholder 5">
            <a:extLst>
              <a:ext uri="{FF2B5EF4-FFF2-40B4-BE49-F238E27FC236}">
                <a16:creationId xmlns:a16="http://schemas.microsoft.com/office/drawing/2014/main" id="{4EF22473-192C-D45B-983B-82260E90F19A}"/>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E4B7E2C-ADC5-9D60-91D4-22E45E00F969}"/>
              </a:ext>
            </a:extLst>
          </p:cNvPr>
          <p:cNvSpPr>
            <a:spLocks noGrp="1"/>
          </p:cNvSpPr>
          <p:nvPr>
            <p:ph type="sldNum" sz="quarter" idx="12"/>
          </p:nvPr>
        </p:nvSpPr>
        <p:spPr/>
        <p:txBody>
          <a:bodyPr/>
          <a:lstStyle/>
          <a:p>
            <a:fld id="{2219D974-8290-482B-AE27-78E6D2F19667}" type="slidenum">
              <a:rPr lang="en-CA" smtClean="0"/>
              <a:t>‹#›</a:t>
            </a:fld>
            <a:endParaRPr lang="en-CA"/>
          </a:p>
        </p:txBody>
      </p:sp>
    </p:spTree>
    <p:extLst>
      <p:ext uri="{BB962C8B-B14F-4D97-AF65-F5344CB8AC3E}">
        <p14:creationId xmlns:p14="http://schemas.microsoft.com/office/powerpoint/2010/main" val="1083525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B325F-F058-8E98-903F-54B890C50E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E0C7EF16-9E2F-0632-DD31-9DBCCD674E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EF8B650-F6CE-8C50-68A3-52324579E7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D59499-A9E5-BE43-58A4-8551EF4A3FAC}"/>
              </a:ext>
            </a:extLst>
          </p:cNvPr>
          <p:cNvSpPr>
            <a:spLocks noGrp="1"/>
          </p:cNvSpPr>
          <p:nvPr>
            <p:ph type="dt" sz="half" idx="10"/>
          </p:nvPr>
        </p:nvSpPr>
        <p:spPr/>
        <p:txBody>
          <a:bodyPr/>
          <a:lstStyle/>
          <a:p>
            <a:fld id="{C589A666-F039-49C9-AE86-5231099A296F}" type="datetimeFigureOut">
              <a:rPr lang="en-CA" smtClean="0"/>
              <a:t>2026-04-12</a:t>
            </a:fld>
            <a:endParaRPr lang="en-CA"/>
          </a:p>
        </p:txBody>
      </p:sp>
      <p:sp>
        <p:nvSpPr>
          <p:cNvPr id="6" name="Footer Placeholder 5">
            <a:extLst>
              <a:ext uri="{FF2B5EF4-FFF2-40B4-BE49-F238E27FC236}">
                <a16:creationId xmlns:a16="http://schemas.microsoft.com/office/drawing/2014/main" id="{5A56909F-8F3F-AB11-79DE-8B7C8780B4C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6E09383-CDDB-F50A-1F6A-56389CD32BCA}"/>
              </a:ext>
            </a:extLst>
          </p:cNvPr>
          <p:cNvSpPr>
            <a:spLocks noGrp="1"/>
          </p:cNvSpPr>
          <p:nvPr>
            <p:ph type="sldNum" sz="quarter" idx="12"/>
          </p:nvPr>
        </p:nvSpPr>
        <p:spPr/>
        <p:txBody>
          <a:bodyPr/>
          <a:lstStyle/>
          <a:p>
            <a:fld id="{2219D974-8290-482B-AE27-78E6D2F19667}" type="slidenum">
              <a:rPr lang="en-CA" smtClean="0"/>
              <a:t>‹#›</a:t>
            </a:fld>
            <a:endParaRPr lang="en-CA"/>
          </a:p>
        </p:txBody>
      </p:sp>
    </p:spTree>
    <p:extLst>
      <p:ext uri="{BB962C8B-B14F-4D97-AF65-F5344CB8AC3E}">
        <p14:creationId xmlns:p14="http://schemas.microsoft.com/office/powerpoint/2010/main" val="2256416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2851E-9CAE-41AA-AEE8-6D78EB176221}"/>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9C660543-CDDE-77CA-ADCC-4D868D0EFA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45545EF-0364-11EC-2922-C757E5C5EE7E}"/>
              </a:ext>
            </a:extLst>
          </p:cNvPr>
          <p:cNvSpPr>
            <a:spLocks noGrp="1"/>
          </p:cNvSpPr>
          <p:nvPr>
            <p:ph type="dt" sz="half" idx="10"/>
          </p:nvPr>
        </p:nvSpPr>
        <p:spPr/>
        <p:txBody>
          <a:bodyPr/>
          <a:lstStyle/>
          <a:p>
            <a:fld id="{C589A666-F039-49C9-AE86-5231099A296F}" type="datetimeFigureOut">
              <a:rPr lang="en-CA" smtClean="0"/>
              <a:t>2026-04-12</a:t>
            </a:fld>
            <a:endParaRPr lang="en-CA"/>
          </a:p>
        </p:txBody>
      </p:sp>
      <p:sp>
        <p:nvSpPr>
          <p:cNvPr id="5" name="Footer Placeholder 4">
            <a:extLst>
              <a:ext uri="{FF2B5EF4-FFF2-40B4-BE49-F238E27FC236}">
                <a16:creationId xmlns:a16="http://schemas.microsoft.com/office/drawing/2014/main" id="{F7E7B820-CAB0-7695-F8E4-1ECF42ED9FA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D4F26AC-D36D-4052-9A05-B3F969128F0A}"/>
              </a:ext>
            </a:extLst>
          </p:cNvPr>
          <p:cNvSpPr>
            <a:spLocks noGrp="1"/>
          </p:cNvSpPr>
          <p:nvPr>
            <p:ph type="sldNum" sz="quarter" idx="12"/>
          </p:nvPr>
        </p:nvSpPr>
        <p:spPr/>
        <p:txBody>
          <a:bodyPr/>
          <a:lstStyle/>
          <a:p>
            <a:fld id="{2219D974-8290-482B-AE27-78E6D2F19667}" type="slidenum">
              <a:rPr lang="en-CA" smtClean="0"/>
              <a:t>‹#›</a:t>
            </a:fld>
            <a:endParaRPr lang="en-CA"/>
          </a:p>
        </p:txBody>
      </p:sp>
    </p:spTree>
    <p:extLst>
      <p:ext uri="{BB962C8B-B14F-4D97-AF65-F5344CB8AC3E}">
        <p14:creationId xmlns:p14="http://schemas.microsoft.com/office/powerpoint/2010/main" val="111696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242256-3BD2-85C3-F699-22164B1456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E6891182-4399-3A60-D0A3-E7625E8233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E6CED45-809C-8868-5DFF-24A67D847092}"/>
              </a:ext>
            </a:extLst>
          </p:cNvPr>
          <p:cNvSpPr>
            <a:spLocks noGrp="1"/>
          </p:cNvSpPr>
          <p:nvPr>
            <p:ph type="dt" sz="half" idx="10"/>
          </p:nvPr>
        </p:nvSpPr>
        <p:spPr/>
        <p:txBody>
          <a:bodyPr/>
          <a:lstStyle/>
          <a:p>
            <a:fld id="{C589A666-F039-49C9-AE86-5231099A296F}" type="datetimeFigureOut">
              <a:rPr lang="en-CA" smtClean="0"/>
              <a:t>2026-04-12</a:t>
            </a:fld>
            <a:endParaRPr lang="en-CA"/>
          </a:p>
        </p:txBody>
      </p:sp>
      <p:sp>
        <p:nvSpPr>
          <p:cNvPr id="5" name="Footer Placeholder 4">
            <a:extLst>
              <a:ext uri="{FF2B5EF4-FFF2-40B4-BE49-F238E27FC236}">
                <a16:creationId xmlns:a16="http://schemas.microsoft.com/office/drawing/2014/main" id="{22D9B0B2-009E-F730-8B71-3697195A59E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A3118C0-7131-270A-CB8A-524AE35AC8A0}"/>
              </a:ext>
            </a:extLst>
          </p:cNvPr>
          <p:cNvSpPr>
            <a:spLocks noGrp="1"/>
          </p:cNvSpPr>
          <p:nvPr>
            <p:ph type="sldNum" sz="quarter" idx="12"/>
          </p:nvPr>
        </p:nvSpPr>
        <p:spPr/>
        <p:txBody>
          <a:bodyPr/>
          <a:lstStyle/>
          <a:p>
            <a:fld id="{2219D974-8290-482B-AE27-78E6D2F19667}" type="slidenum">
              <a:rPr lang="en-CA" smtClean="0"/>
              <a:t>‹#›</a:t>
            </a:fld>
            <a:endParaRPr lang="en-CA"/>
          </a:p>
        </p:txBody>
      </p:sp>
    </p:spTree>
    <p:extLst>
      <p:ext uri="{BB962C8B-B14F-4D97-AF65-F5344CB8AC3E}">
        <p14:creationId xmlns:p14="http://schemas.microsoft.com/office/powerpoint/2010/main" val="3653659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230D90-6584-6AF1-7F9E-D5CB0BA772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CF85115-6E1B-C3D7-F81F-FFD3499EFC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E1944CD-6073-E990-8484-0A3AF170C0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89A666-F039-49C9-AE86-5231099A296F}" type="datetimeFigureOut">
              <a:rPr lang="en-CA" smtClean="0"/>
              <a:t>2026-04-12</a:t>
            </a:fld>
            <a:endParaRPr lang="en-CA"/>
          </a:p>
        </p:txBody>
      </p:sp>
      <p:sp>
        <p:nvSpPr>
          <p:cNvPr id="5" name="Footer Placeholder 4">
            <a:extLst>
              <a:ext uri="{FF2B5EF4-FFF2-40B4-BE49-F238E27FC236}">
                <a16:creationId xmlns:a16="http://schemas.microsoft.com/office/drawing/2014/main" id="{7803E939-01D2-2AC4-EC2A-9205D6531B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FE1FEC7D-466A-A68B-BB7C-AE41B77052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219D974-8290-482B-AE27-78E6D2F19667}" type="slidenum">
              <a:rPr lang="en-CA" smtClean="0"/>
              <a:t>‹#›</a:t>
            </a:fld>
            <a:endParaRPr lang="en-CA"/>
          </a:p>
        </p:txBody>
      </p:sp>
    </p:spTree>
    <p:extLst>
      <p:ext uri="{BB962C8B-B14F-4D97-AF65-F5344CB8AC3E}">
        <p14:creationId xmlns:p14="http://schemas.microsoft.com/office/powerpoint/2010/main" val="152813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ouse of Commons of Canada - Wikipedia">
            <a:extLst>
              <a:ext uri="{FF2B5EF4-FFF2-40B4-BE49-F238E27FC236}">
                <a16:creationId xmlns:a16="http://schemas.microsoft.com/office/drawing/2014/main" id="{C1405104-0B01-01AC-ADDA-A3AA1409B0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091" r="13818"/>
          <a:stretch>
            <a:fillRect/>
          </a:stretch>
        </p:blipFill>
        <p:spPr bwMode="auto">
          <a:xfrm>
            <a:off x="3523488" y="10"/>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176AB9E-3AD6-7949-ED98-CE16A16E26B6}"/>
              </a:ext>
            </a:extLst>
          </p:cNvPr>
          <p:cNvSpPr>
            <a:spLocks noGrp="1"/>
          </p:cNvSpPr>
          <p:nvPr>
            <p:ph type="ctrTitle"/>
          </p:nvPr>
        </p:nvSpPr>
        <p:spPr>
          <a:xfrm>
            <a:off x="477981" y="1122363"/>
            <a:ext cx="4023360" cy="3204134"/>
          </a:xfrm>
        </p:spPr>
        <p:txBody>
          <a:bodyPr anchor="b">
            <a:normAutofit/>
          </a:bodyPr>
          <a:lstStyle/>
          <a:p>
            <a:pPr algn="l"/>
            <a:r>
              <a:rPr lang="en-CA" sz="4800" dirty="0"/>
              <a:t>How Do Canadian MPs Talk About Education? </a:t>
            </a:r>
          </a:p>
        </p:txBody>
      </p:sp>
      <p:sp>
        <p:nvSpPr>
          <p:cNvPr id="3" name="Subtitle 2">
            <a:extLst>
              <a:ext uri="{FF2B5EF4-FFF2-40B4-BE49-F238E27FC236}">
                <a16:creationId xmlns:a16="http://schemas.microsoft.com/office/drawing/2014/main" id="{AC21AB9A-A094-FCA6-E1BA-A0C665ACD802}"/>
              </a:ext>
            </a:extLst>
          </p:cNvPr>
          <p:cNvSpPr>
            <a:spLocks noGrp="1"/>
          </p:cNvSpPr>
          <p:nvPr>
            <p:ph type="subTitle" idx="1"/>
          </p:nvPr>
        </p:nvSpPr>
        <p:spPr>
          <a:xfrm>
            <a:off x="477980" y="4872922"/>
            <a:ext cx="4023359" cy="1208141"/>
          </a:xfrm>
        </p:spPr>
        <p:txBody>
          <a:bodyPr>
            <a:normAutofit/>
          </a:bodyPr>
          <a:lstStyle/>
          <a:p>
            <a:pPr algn="l"/>
            <a:r>
              <a:rPr lang="en-CA" sz="2000" dirty="0"/>
              <a:t>Kaylynn Driggers</a:t>
            </a:r>
          </a:p>
        </p:txBody>
      </p:sp>
      <p:sp>
        <p:nvSpPr>
          <p:cNvPr id="1035" name="Rectangle 103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7" name="Rectangle 103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7070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C4A294-9C30-220F-22F9-7CAF95DAC385}"/>
              </a:ext>
            </a:extLst>
          </p:cNvPr>
          <p:cNvSpPr>
            <a:spLocks noGrp="1"/>
          </p:cNvSpPr>
          <p:nvPr>
            <p:ph type="title"/>
          </p:nvPr>
        </p:nvSpPr>
        <p:spPr>
          <a:xfrm>
            <a:off x="841248" y="548640"/>
            <a:ext cx="3600860" cy="5431536"/>
          </a:xfrm>
        </p:spPr>
        <p:txBody>
          <a:bodyPr>
            <a:normAutofit/>
          </a:bodyPr>
          <a:lstStyle/>
          <a:p>
            <a:r>
              <a:rPr lang="en-CA" sz="5400"/>
              <a:t>Research Question</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5C1BDE5-317F-6696-CDE7-B609F9F09843}"/>
              </a:ext>
            </a:extLst>
          </p:cNvPr>
          <p:cNvSpPr>
            <a:spLocks noGrp="1"/>
          </p:cNvSpPr>
          <p:nvPr>
            <p:ph idx="1"/>
          </p:nvPr>
        </p:nvSpPr>
        <p:spPr>
          <a:xfrm>
            <a:off x="5126418" y="552091"/>
            <a:ext cx="6224335" cy="5431536"/>
          </a:xfrm>
        </p:spPr>
        <p:txBody>
          <a:bodyPr anchor="ctr">
            <a:normAutofit/>
          </a:bodyPr>
          <a:lstStyle/>
          <a:p>
            <a:pPr marL="0" indent="0">
              <a:buNone/>
            </a:pPr>
            <a:r>
              <a:rPr lang="en-US" sz="2200"/>
              <a:t>How do Canadian MPs talk about education in House of Commons debate? </a:t>
            </a:r>
          </a:p>
          <a:p>
            <a:pPr lvl="1"/>
            <a:r>
              <a:rPr lang="en-US" sz="2200"/>
              <a:t>More specifically, which education topics appear most often in federal speech, and how do those vary over time and across parties?</a:t>
            </a:r>
          </a:p>
        </p:txBody>
      </p:sp>
    </p:spTree>
    <p:extLst>
      <p:ext uri="{BB962C8B-B14F-4D97-AF65-F5344CB8AC3E}">
        <p14:creationId xmlns:p14="http://schemas.microsoft.com/office/powerpoint/2010/main" val="3970495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384FA0-DAA5-4D0A-EC93-9292DD7B462D}"/>
              </a:ext>
            </a:extLst>
          </p:cNvPr>
          <p:cNvSpPr>
            <a:spLocks noGrp="1"/>
          </p:cNvSpPr>
          <p:nvPr>
            <p:ph type="title"/>
          </p:nvPr>
        </p:nvSpPr>
        <p:spPr>
          <a:xfrm>
            <a:off x="572493" y="238539"/>
            <a:ext cx="11018520" cy="1434415"/>
          </a:xfrm>
        </p:spPr>
        <p:txBody>
          <a:bodyPr anchor="b">
            <a:normAutofit fontScale="90000"/>
          </a:bodyPr>
          <a:lstStyle/>
          <a:p>
            <a:r>
              <a:rPr lang="en-CA" sz="5400" dirty="0"/>
              <a:t>Why study how federal MPs talk about education? </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sX0" fmla="*/ 0 w 10972800"/>
              <a:gd name="csY0" fmla="*/ 0 h 18288"/>
              <a:gd name="csX1" fmla="*/ 356616 w 10972800"/>
              <a:gd name="csY1" fmla="*/ 0 h 18288"/>
              <a:gd name="csX2" fmla="*/ 1042416 w 10972800"/>
              <a:gd name="csY2" fmla="*/ 0 h 18288"/>
              <a:gd name="csX3" fmla="*/ 1947672 w 10972800"/>
              <a:gd name="csY3" fmla="*/ 0 h 18288"/>
              <a:gd name="csX4" fmla="*/ 2633472 w 10972800"/>
              <a:gd name="csY4" fmla="*/ 0 h 18288"/>
              <a:gd name="csX5" fmla="*/ 2990088 w 10972800"/>
              <a:gd name="csY5" fmla="*/ 0 h 18288"/>
              <a:gd name="csX6" fmla="*/ 3456432 w 10972800"/>
              <a:gd name="csY6" fmla="*/ 0 h 18288"/>
              <a:gd name="csX7" fmla="*/ 4361688 w 10972800"/>
              <a:gd name="csY7" fmla="*/ 0 h 18288"/>
              <a:gd name="csX8" fmla="*/ 5266944 w 10972800"/>
              <a:gd name="csY8" fmla="*/ 0 h 18288"/>
              <a:gd name="csX9" fmla="*/ 6172200 w 10972800"/>
              <a:gd name="csY9" fmla="*/ 0 h 18288"/>
              <a:gd name="csX10" fmla="*/ 6528816 w 10972800"/>
              <a:gd name="csY10" fmla="*/ 0 h 18288"/>
              <a:gd name="csX11" fmla="*/ 7214616 w 10972800"/>
              <a:gd name="csY11" fmla="*/ 0 h 18288"/>
              <a:gd name="csX12" fmla="*/ 7790688 w 10972800"/>
              <a:gd name="csY12" fmla="*/ 0 h 18288"/>
              <a:gd name="csX13" fmla="*/ 8147304 w 10972800"/>
              <a:gd name="csY13" fmla="*/ 0 h 18288"/>
              <a:gd name="csX14" fmla="*/ 9052560 w 10972800"/>
              <a:gd name="csY14" fmla="*/ 0 h 18288"/>
              <a:gd name="csX15" fmla="*/ 9409176 w 10972800"/>
              <a:gd name="csY15" fmla="*/ 0 h 18288"/>
              <a:gd name="csX16" fmla="*/ 9765792 w 10972800"/>
              <a:gd name="csY16" fmla="*/ 0 h 18288"/>
              <a:gd name="csX17" fmla="*/ 10341864 w 10972800"/>
              <a:gd name="csY17" fmla="*/ 0 h 18288"/>
              <a:gd name="csX18" fmla="*/ 10972800 w 10972800"/>
              <a:gd name="csY18" fmla="*/ 0 h 18288"/>
              <a:gd name="csX19" fmla="*/ 10972800 w 10972800"/>
              <a:gd name="csY19" fmla="*/ 18288 h 18288"/>
              <a:gd name="csX20" fmla="*/ 10177272 w 10972800"/>
              <a:gd name="csY20" fmla="*/ 18288 h 18288"/>
              <a:gd name="csX21" fmla="*/ 9820656 w 10972800"/>
              <a:gd name="csY21" fmla="*/ 18288 h 18288"/>
              <a:gd name="csX22" fmla="*/ 9464040 w 10972800"/>
              <a:gd name="csY22" fmla="*/ 18288 h 18288"/>
              <a:gd name="csX23" fmla="*/ 8778240 w 10972800"/>
              <a:gd name="csY23" fmla="*/ 18288 h 18288"/>
              <a:gd name="csX24" fmla="*/ 8421624 w 10972800"/>
              <a:gd name="csY24" fmla="*/ 18288 h 18288"/>
              <a:gd name="csX25" fmla="*/ 7735824 w 10972800"/>
              <a:gd name="csY25" fmla="*/ 18288 h 18288"/>
              <a:gd name="csX26" fmla="*/ 6940296 w 10972800"/>
              <a:gd name="csY26" fmla="*/ 18288 h 18288"/>
              <a:gd name="csX27" fmla="*/ 6254496 w 10972800"/>
              <a:gd name="csY27" fmla="*/ 18288 h 18288"/>
              <a:gd name="csX28" fmla="*/ 5458968 w 10972800"/>
              <a:gd name="csY28" fmla="*/ 18288 h 18288"/>
              <a:gd name="csX29" fmla="*/ 4663440 w 10972800"/>
              <a:gd name="csY29" fmla="*/ 18288 h 18288"/>
              <a:gd name="csX30" fmla="*/ 4306824 w 10972800"/>
              <a:gd name="csY30" fmla="*/ 18288 h 18288"/>
              <a:gd name="csX31" fmla="*/ 3840480 w 10972800"/>
              <a:gd name="csY31" fmla="*/ 18288 h 18288"/>
              <a:gd name="csX32" fmla="*/ 3264408 w 10972800"/>
              <a:gd name="csY32" fmla="*/ 18288 h 18288"/>
              <a:gd name="csX33" fmla="*/ 2578608 w 10972800"/>
              <a:gd name="csY33" fmla="*/ 18288 h 18288"/>
              <a:gd name="csX34" fmla="*/ 1673352 w 10972800"/>
              <a:gd name="csY34" fmla="*/ 18288 h 18288"/>
              <a:gd name="csX35" fmla="*/ 877824 w 10972800"/>
              <a:gd name="csY35" fmla="*/ 18288 h 18288"/>
              <a:gd name="csX36" fmla="*/ 0 w 10972800"/>
              <a:gd name="csY36" fmla="*/ 18288 h 18288"/>
              <a:gd name="csX37" fmla="*/ 0 w 10972800"/>
              <a:gd name="csY37"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CE61DA4-40FE-4636-FF29-1F3ED98BC26C}"/>
              </a:ext>
            </a:extLst>
          </p:cNvPr>
          <p:cNvPicPr>
            <a:picLocks noChangeAspect="1"/>
          </p:cNvPicPr>
          <p:nvPr/>
        </p:nvPicPr>
        <p:blipFill>
          <a:blip r:embed="rId3"/>
          <a:srcRect l="1956" r="1836" b="-3"/>
          <a:stretch>
            <a:fillRect/>
          </a:stretch>
        </p:blipFill>
        <p:spPr>
          <a:xfrm>
            <a:off x="7940996" y="2093976"/>
            <a:ext cx="3675726" cy="3820708"/>
          </a:xfrm>
          <a:prstGeom prst="rect">
            <a:avLst/>
          </a:prstGeom>
        </p:spPr>
      </p:pic>
      <p:sp>
        <p:nvSpPr>
          <p:cNvPr id="6" name="Rectangle 1">
            <a:extLst>
              <a:ext uri="{FF2B5EF4-FFF2-40B4-BE49-F238E27FC236}">
                <a16:creationId xmlns:a16="http://schemas.microsoft.com/office/drawing/2014/main" id="{CC843D30-385E-C6EC-ECC5-755A0E908E8E}"/>
              </a:ext>
            </a:extLst>
          </p:cNvPr>
          <p:cNvSpPr>
            <a:spLocks noGrp="1" noChangeArrowheads="1"/>
          </p:cNvSpPr>
          <p:nvPr>
            <p:ph idx="1"/>
          </p:nvPr>
        </p:nvSpPr>
        <p:spPr bwMode="auto">
          <a:xfrm>
            <a:off x="215877" y="2509960"/>
            <a:ext cx="7839987"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ptos(Body)"/>
              </a:rPr>
              <a:t>Education is primarily a provincial responsibility in Canada.</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ptos(Body)"/>
              </a:rPr>
              <a:t>Even so, MPs still talk about education in House of Commons debate.</a:t>
            </a:r>
          </a:p>
          <a:p>
            <a:pPr eaLnBrk="0" fontAlgn="base" hangingPunct="0">
              <a:lnSpc>
                <a:spcPct val="100000"/>
              </a:lnSpc>
              <a:spcBef>
                <a:spcPct val="0"/>
              </a:spcBef>
              <a:spcAft>
                <a:spcPct val="0"/>
              </a:spcAft>
            </a:pPr>
            <a:r>
              <a:rPr kumimoji="0" lang="en-US" altLang="en-US" b="0" i="0" u="none" strike="noStrike" cap="none" normalizeH="0" baseline="0" dirty="0">
                <a:ln>
                  <a:noFill/>
                </a:ln>
                <a:solidFill>
                  <a:schemeClr val="tx1"/>
                </a:solidFill>
                <a:effectLst/>
                <a:latin typeface="Aptos(Body)"/>
              </a:rPr>
              <a:t>That suggests education is politically relevant at the national level, w</a:t>
            </a:r>
            <a:r>
              <a:rPr lang="en-US" altLang="en-US" dirty="0">
                <a:latin typeface="Aptos(Body)"/>
              </a:rPr>
              <a:t>hich makes it important for us to understand the ways in which it is invoked</a:t>
            </a:r>
            <a:endParaRPr kumimoji="0" lang="en-US" altLang="en-US" b="0" i="0" u="none" strike="noStrike" cap="none" normalizeH="0" baseline="0" dirty="0">
              <a:ln>
                <a:noFill/>
              </a:ln>
              <a:solidFill>
                <a:schemeClr val="tx1"/>
              </a:solidFill>
              <a:effectLst/>
              <a:latin typeface="Aptos(Body)"/>
            </a:endParaRPr>
          </a:p>
        </p:txBody>
      </p:sp>
    </p:spTree>
    <p:extLst>
      <p:ext uri="{BB962C8B-B14F-4D97-AF65-F5344CB8AC3E}">
        <p14:creationId xmlns:p14="http://schemas.microsoft.com/office/powerpoint/2010/main" val="10938838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2" name="Rectangle 2061">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1DA7B-6C9A-2816-DC29-68D491BB20B4}"/>
              </a:ext>
            </a:extLst>
          </p:cNvPr>
          <p:cNvSpPr>
            <a:spLocks noGrp="1"/>
          </p:cNvSpPr>
          <p:nvPr>
            <p:ph type="title"/>
          </p:nvPr>
        </p:nvSpPr>
        <p:spPr>
          <a:xfrm>
            <a:off x="640080" y="325369"/>
            <a:ext cx="4368602" cy="1956841"/>
          </a:xfrm>
        </p:spPr>
        <p:txBody>
          <a:bodyPr anchor="b">
            <a:normAutofit/>
          </a:bodyPr>
          <a:lstStyle/>
          <a:p>
            <a:r>
              <a:rPr lang="en-CA" sz="5400"/>
              <a:t>Data Collection</a:t>
            </a:r>
          </a:p>
        </p:txBody>
      </p:sp>
      <p:sp>
        <p:nvSpPr>
          <p:cNvPr id="2064"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A88AB01-8A45-0EAD-04EE-7FE7B19B8697}"/>
              </a:ext>
            </a:extLst>
          </p:cNvPr>
          <p:cNvSpPr>
            <a:spLocks noGrp="1"/>
          </p:cNvSpPr>
          <p:nvPr>
            <p:ph idx="1"/>
          </p:nvPr>
        </p:nvSpPr>
        <p:spPr>
          <a:xfrm>
            <a:off x="640080" y="2872899"/>
            <a:ext cx="4243589" cy="3320668"/>
          </a:xfrm>
        </p:spPr>
        <p:txBody>
          <a:bodyPr>
            <a:normAutofit/>
          </a:bodyPr>
          <a:lstStyle/>
          <a:p>
            <a:r>
              <a:rPr lang="en-CA" sz="1500" dirty="0"/>
              <a:t>Source: Canadian House of Commons Hansard</a:t>
            </a:r>
          </a:p>
          <a:p>
            <a:r>
              <a:rPr lang="en-CA" sz="1500" dirty="0"/>
              <a:t>Coverage: 1900 to 2019</a:t>
            </a:r>
          </a:p>
          <a:p>
            <a:r>
              <a:rPr lang="en-CA" sz="1500" dirty="0"/>
              <a:t>Unit of analysis: individual MP speech</a:t>
            </a:r>
          </a:p>
          <a:p>
            <a:r>
              <a:rPr lang="en-CA" sz="1500" dirty="0"/>
              <a:t>To build a manageable corpus, I sampled 100 rows from each speech file, which created a master sample of 1,312,018 speeches. </a:t>
            </a:r>
          </a:p>
          <a:p>
            <a:r>
              <a:rPr lang="en-CA" sz="1500" dirty="0"/>
              <a:t>I then applied an education keyword filter, which gave me 60,833 education -related speeches </a:t>
            </a:r>
          </a:p>
          <a:p>
            <a:r>
              <a:rPr lang="en-CA" sz="1500" dirty="0"/>
              <a:t>Metadata included: date,  weekday, speaker, party</a:t>
            </a:r>
          </a:p>
        </p:txBody>
      </p:sp>
      <p:pic>
        <p:nvPicPr>
          <p:cNvPr id="2050" name="Picture 2" descr="U of T team brings Hansard, one of Canada's most important documents, into  the digital age | University of Toronto">
            <a:extLst>
              <a:ext uri="{FF2B5EF4-FFF2-40B4-BE49-F238E27FC236}">
                <a16:creationId xmlns:a16="http://schemas.microsoft.com/office/drawing/2014/main" id="{0D094CE4-9808-83CB-BE24-1FC8B59D6B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420" r="13627" b="-1"/>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6216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61" name="Rectangle 6160">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350A5A-264D-9404-D349-5BB58ACFD36D}"/>
              </a:ext>
            </a:extLst>
          </p:cNvPr>
          <p:cNvSpPr>
            <a:spLocks noGrp="1"/>
          </p:cNvSpPr>
          <p:nvPr>
            <p:ph type="title"/>
          </p:nvPr>
        </p:nvSpPr>
        <p:spPr>
          <a:xfrm>
            <a:off x="841248" y="256032"/>
            <a:ext cx="10506456" cy="1014984"/>
          </a:xfrm>
        </p:spPr>
        <p:txBody>
          <a:bodyPr anchor="b">
            <a:normAutofit/>
          </a:bodyPr>
          <a:lstStyle/>
          <a:p>
            <a:r>
              <a:rPr lang="en-CA"/>
              <a:t>Workflow</a:t>
            </a:r>
          </a:p>
        </p:txBody>
      </p:sp>
      <p:sp>
        <p:nvSpPr>
          <p:cNvPr id="6163" name="Rectangle 6162">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165" name="Rectangle 616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149" name="Rectangle 1">
            <a:extLst>
              <a:ext uri="{FF2B5EF4-FFF2-40B4-BE49-F238E27FC236}">
                <a16:creationId xmlns:a16="http://schemas.microsoft.com/office/drawing/2014/main" id="{7BFB9654-B56B-70AD-BAFF-16644D77BBB5}"/>
              </a:ext>
            </a:extLst>
          </p:cNvPr>
          <p:cNvGraphicFramePr>
            <a:graphicFrameLocks noGrp="1"/>
          </p:cNvGraphicFramePr>
          <p:nvPr>
            <p:ph idx="1"/>
            <p:extLst>
              <p:ext uri="{D42A27DB-BD31-4B8C-83A1-F6EECF244321}">
                <p14:modId xmlns:p14="http://schemas.microsoft.com/office/powerpoint/2010/main" val="79895788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7976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3AA782-23D1-4521-8CAD-47662984A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D0BFC8-B0B3-2091-8F3D-78B022428102}"/>
              </a:ext>
            </a:extLst>
          </p:cNvPr>
          <p:cNvSpPr>
            <a:spLocks noGrp="1"/>
          </p:cNvSpPr>
          <p:nvPr>
            <p:ph type="title"/>
          </p:nvPr>
        </p:nvSpPr>
        <p:spPr>
          <a:xfrm>
            <a:off x="630936" y="640080"/>
            <a:ext cx="4818888" cy="1481328"/>
          </a:xfrm>
        </p:spPr>
        <p:txBody>
          <a:bodyPr vert="horz" lIns="91440" tIns="45720" rIns="91440" bIns="45720" rtlCol="0" anchor="b">
            <a:normAutofit/>
          </a:bodyPr>
          <a:lstStyle/>
          <a:p>
            <a:r>
              <a:rPr lang="en-US" sz="5000" kern="1200" dirty="0">
                <a:solidFill>
                  <a:schemeClr val="tx1"/>
                </a:solidFill>
                <a:latin typeface="+mj-lt"/>
                <a:ea typeface="+mj-ea"/>
                <a:cs typeface="+mj-cs"/>
              </a:rPr>
              <a:t>How were speeches coded? </a:t>
            </a:r>
          </a:p>
        </p:txBody>
      </p:sp>
      <p:sp>
        <p:nvSpPr>
          <p:cNvPr id="18" name="sketch line">
            <a:extLst>
              <a:ext uri="{FF2B5EF4-FFF2-40B4-BE49-F238E27FC236}">
                <a16:creationId xmlns:a16="http://schemas.microsoft.com/office/drawing/2014/main" id="{71877DBC-BB60-40F0-AC93-2ACDBAAE60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2">
            <a:extLst>
              <a:ext uri="{FF2B5EF4-FFF2-40B4-BE49-F238E27FC236}">
                <a16:creationId xmlns:a16="http://schemas.microsoft.com/office/drawing/2014/main" id="{30E96C98-1EBE-3D62-B70C-0740611BFB08}"/>
              </a:ext>
            </a:extLst>
          </p:cNvPr>
          <p:cNvSpPr txBox="1">
            <a:spLocks/>
          </p:cNvSpPr>
          <p:nvPr/>
        </p:nvSpPr>
        <p:spPr>
          <a:xfrm>
            <a:off x="630936" y="2660904"/>
            <a:ext cx="4818888" cy="354787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t>Speeches were coded across seven topic categories</a:t>
            </a:r>
          </a:p>
          <a:p>
            <a:pPr lvl="1"/>
            <a:r>
              <a:rPr lang="en-US" sz="1800" dirty="0"/>
              <a:t>as 1 = present, 0 = absent/unclear</a:t>
            </a:r>
          </a:p>
          <a:p>
            <a:r>
              <a:rPr lang="en-US" sz="2200" dirty="0"/>
              <a:t>Coding allowed overlap across topics</a:t>
            </a:r>
          </a:p>
          <a:p>
            <a:r>
              <a:rPr lang="en-US" sz="2200" dirty="0"/>
              <a:t>Ambiguous cases were coded conservatively using explicit inclusion/exclusion rules</a:t>
            </a:r>
          </a:p>
        </p:txBody>
      </p:sp>
      <p:graphicFrame>
        <p:nvGraphicFramePr>
          <p:cNvPr id="4" name="Content Placeholder 3">
            <a:extLst>
              <a:ext uri="{FF2B5EF4-FFF2-40B4-BE49-F238E27FC236}">
                <a16:creationId xmlns:a16="http://schemas.microsoft.com/office/drawing/2014/main" id="{B908ABB4-AC41-6963-D342-F4505C3218A8}"/>
              </a:ext>
            </a:extLst>
          </p:cNvPr>
          <p:cNvGraphicFramePr>
            <a:graphicFrameLocks noGrp="1"/>
          </p:cNvGraphicFramePr>
          <p:nvPr>
            <p:ph idx="1"/>
            <p:extLst>
              <p:ext uri="{D42A27DB-BD31-4B8C-83A1-F6EECF244321}">
                <p14:modId xmlns:p14="http://schemas.microsoft.com/office/powerpoint/2010/main" val="3753770980"/>
              </p:ext>
            </p:extLst>
          </p:nvPr>
        </p:nvGraphicFramePr>
        <p:xfrm>
          <a:off x="6099048" y="690818"/>
          <a:ext cx="5462016" cy="5963982"/>
        </p:xfrm>
        <a:graphic>
          <a:graphicData uri="http://schemas.openxmlformats.org/drawingml/2006/table">
            <a:tbl>
              <a:tblPr>
                <a:tableStyleId>{72833802-FEF1-4C79-8D5D-14CF1EAF98D9}</a:tableStyleId>
              </a:tblPr>
              <a:tblGrid>
                <a:gridCol w="1790262">
                  <a:extLst>
                    <a:ext uri="{9D8B030D-6E8A-4147-A177-3AD203B41FA5}">
                      <a16:colId xmlns:a16="http://schemas.microsoft.com/office/drawing/2014/main" val="1266521862"/>
                    </a:ext>
                  </a:extLst>
                </a:gridCol>
                <a:gridCol w="1807367">
                  <a:extLst>
                    <a:ext uri="{9D8B030D-6E8A-4147-A177-3AD203B41FA5}">
                      <a16:colId xmlns:a16="http://schemas.microsoft.com/office/drawing/2014/main" val="3067133320"/>
                    </a:ext>
                  </a:extLst>
                </a:gridCol>
                <a:gridCol w="1864387">
                  <a:extLst>
                    <a:ext uri="{9D8B030D-6E8A-4147-A177-3AD203B41FA5}">
                      <a16:colId xmlns:a16="http://schemas.microsoft.com/office/drawing/2014/main" val="1766226561"/>
                    </a:ext>
                  </a:extLst>
                </a:gridCol>
              </a:tblGrid>
              <a:tr h="268995">
                <a:tc>
                  <a:txBody>
                    <a:bodyPr/>
                    <a:lstStyle/>
                    <a:p>
                      <a:pPr>
                        <a:buNone/>
                      </a:pPr>
                      <a:r>
                        <a:rPr lang="en-CA" sz="1100" b="1"/>
                        <a:t>Category</a:t>
                      </a:r>
                    </a:p>
                  </a:txBody>
                  <a:tcPr marL="56765" marR="56765" marT="28383" marB="28383" anchor="ctr"/>
                </a:tc>
                <a:tc>
                  <a:txBody>
                    <a:bodyPr/>
                    <a:lstStyle/>
                    <a:p>
                      <a:pPr>
                        <a:buNone/>
                      </a:pPr>
                      <a:r>
                        <a:rPr lang="en-CA" sz="1100" b="1"/>
                        <a:t>Short description</a:t>
                      </a:r>
                    </a:p>
                  </a:txBody>
                  <a:tcPr marL="56765" marR="56765" marT="28383" marB="28383" anchor="ctr"/>
                </a:tc>
                <a:tc>
                  <a:txBody>
                    <a:bodyPr/>
                    <a:lstStyle/>
                    <a:p>
                      <a:pPr>
                        <a:buNone/>
                      </a:pPr>
                      <a:r>
                        <a:rPr lang="en-CA" sz="1100" b="1"/>
                        <a:t>Common keywords</a:t>
                      </a:r>
                    </a:p>
                  </a:txBody>
                  <a:tcPr marL="56765" marR="56765" marT="28383" marB="28383" anchor="ctr"/>
                </a:tc>
                <a:extLst>
                  <a:ext uri="{0D108BD9-81ED-4DB2-BD59-A6C34878D82A}">
                    <a16:rowId xmlns:a16="http://schemas.microsoft.com/office/drawing/2014/main" val="383036609"/>
                  </a:ext>
                </a:extLst>
              </a:tr>
              <a:tr h="965030">
                <a:tc>
                  <a:txBody>
                    <a:bodyPr/>
                    <a:lstStyle/>
                    <a:p>
                      <a:pPr>
                        <a:buNone/>
                      </a:pPr>
                      <a:r>
                        <a:rPr lang="en-CA" sz="1100" b="1"/>
                        <a:t>Indigenous education</a:t>
                      </a:r>
                    </a:p>
                  </a:txBody>
                  <a:tcPr marL="56765" marR="56765" marT="28383" marB="28383" anchor="ctr"/>
                </a:tc>
                <a:tc>
                  <a:txBody>
                    <a:bodyPr/>
                    <a:lstStyle/>
                    <a:p>
                      <a:pPr>
                        <a:buNone/>
                      </a:pPr>
                      <a:r>
                        <a:rPr lang="en-US" sz="1100"/>
                        <a:t>Schooling tied to Indigenous communities, reconciliation, and residential schools</a:t>
                      </a:r>
                    </a:p>
                  </a:txBody>
                  <a:tcPr marL="56765" marR="56765" marT="28383" marB="28383" anchor="ctr"/>
                </a:tc>
                <a:tc>
                  <a:txBody>
                    <a:bodyPr/>
                    <a:lstStyle/>
                    <a:p>
                      <a:pPr>
                        <a:buNone/>
                      </a:pPr>
                      <a:r>
                        <a:rPr lang="en-US" sz="1100"/>
                        <a:t>Indigenous education, residential schools, reconciliation, First Nations, Inuit, Métis, on-reserve schools</a:t>
                      </a:r>
                    </a:p>
                  </a:txBody>
                  <a:tcPr marL="56765" marR="56765" marT="28383" marB="28383" anchor="ctr"/>
                </a:tc>
                <a:extLst>
                  <a:ext uri="{0D108BD9-81ED-4DB2-BD59-A6C34878D82A}">
                    <a16:rowId xmlns:a16="http://schemas.microsoft.com/office/drawing/2014/main" val="1336104607"/>
                  </a:ext>
                </a:extLst>
              </a:tr>
              <a:tr h="965030">
                <a:tc>
                  <a:txBody>
                    <a:bodyPr/>
                    <a:lstStyle/>
                    <a:p>
                      <a:pPr>
                        <a:buNone/>
                      </a:pPr>
                      <a:r>
                        <a:rPr lang="en-CA" sz="1100" b="1"/>
                        <a:t>Official languages and bilingualism</a:t>
                      </a:r>
                    </a:p>
                  </a:txBody>
                  <a:tcPr marL="56765" marR="56765" marT="28383" marB="28383" anchor="ctr"/>
                </a:tc>
                <a:tc>
                  <a:txBody>
                    <a:bodyPr/>
                    <a:lstStyle/>
                    <a:p>
                      <a:pPr>
                        <a:buNone/>
                      </a:pPr>
                      <a:r>
                        <a:rPr lang="en-US" sz="1100"/>
                        <a:t>Schooling tied to English-French language rights and minority-language education</a:t>
                      </a:r>
                    </a:p>
                  </a:txBody>
                  <a:tcPr marL="56765" marR="56765" marT="28383" marB="28383" anchor="ctr"/>
                </a:tc>
                <a:tc>
                  <a:txBody>
                    <a:bodyPr/>
                    <a:lstStyle/>
                    <a:p>
                      <a:pPr>
                        <a:buNone/>
                      </a:pPr>
                      <a:r>
                        <a:rPr lang="en-US" sz="1100"/>
                        <a:t>bilingualism, French immersion, minority-language schools, francophone, anglophone, language rights</a:t>
                      </a:r>
                    </a:p>
                  </a:txBody>
                  <a:tcPr marL="56765" marR="56765" marT="28383" marB="28383" anchor="ctr"/>
                </a:tc>
                <a:extLst>
                  <a:ext uri="{0D108BD9-81ED-4DB2-BD59-A6C34878D82A}">
                    <a16:rowId xmlns:a16="http://schemas.microsoft.com/office/drawing/2014/main" val="308653530"/>
                  </a:ext>
                </a:extLst>
              </a:tr>
              <a:tr h="617013">
                <a:tc>
                  <a:txBody>
                    <a:bodyPr/>
                    <a:lstStyle/>
                    <a:p>
                      <a:pPr>
                        <a:buNone/>
                      </a:pPr>
                      <a:r>
                        <a:rPr lang="en-CA" sz="1100" b="1"/>
                        <a:t>Postsecondary affordability and access</a:t>
                      </a:r>
                    </a:p>
                  </a:txBody>
                  <a:tcPr marL="56765" marR="56765" marT="28383" marB="28383" anchor="ctr"/>
                </a:tc>
                <a:tc>
                  <a:txBody>
                    <a:bodyPr/>
                    <a:lstStyle/>
                    <a:p>
                      <a:pPr>
                        <a:buNone/>
                      </a:pPr>
                      <a:r>
                        <a:rPr lang="en-US" sz="1100"/>
                        <a:t>Focus on the cost of college/university and barriers to attendance</a:t>
                      </a:r>
                    </a:p>
                  </a:txBody>
                  <a:tcPr marL="56765" marR="56765" marT="28383" marB="28383" anchor="ctr"/>
                </a:tc>
                <a:tc>
                  <a:txBody>
                    <a:bodyPr/>
                    <a:lstStyle/>
                    <a:p>
                      <a:pPr>
                        <a:buNone/>
                      </a:pPr>
                      <a:r>
                        <a:rPr lang="en-US" sz="1100"/>
                        <a:t>tuition, student debt, grants, loans, affordability, access</a:t>
                      </a:r>
                    </a:p>
                  </a:txBody>
                  <a:tcPr marL="56765" marR="56765" marT="28383" marB="28383" anchor="ctr"/>
                </a:tc>
                <a:extLst>
                  <a:ext uri="{0D108BD9-81ED-4DB2-BD59-A6C34878D82A}">
                    <a16:rowId xmlns:a16="http://schemas.microsoft.com/office/drawing/2014/main" val="1150135429"/>
                  </a:ext>
                </a:extLst>
              </a:tr>
              <a:tr h="791021">
                <a:tc>
                  <a:txBody>
                    <a:bodyPr/>
                    <a:lstStyle/>
                    <a:p>
                      <a:pPr>
                        <a:buNone/>
                      </a:pPr>
                      <a:r>
                        <a:rPr lang="en-CA" sz="1100" b="1"/>
                        <a:t>Universities, research, and innovation</a:t>
                      </a:r>
                    </a:p>
                  </a:txBody>
                  <a:tcPr marL="56765" marR="56765" marT="28383" marB="28383" anchor="ctr"/>
                </a:tc>
                <a:tc>
                  <a:txBody>
                    <a:bodyPr/>
                    <a:lstStyle/>
                    <a:p>
                      <a:pPr>
                        <a:buNone/>
                      </a:pPr>
                      <a:r>
                        <a:rPr lang="en-US" sz="1100"/>
                        <a:t>Postsecondary institutions as sites of research, science, and innovation</a:t>
                      </a:r>
                    </a:p>
                  </a:txBody>
                  <a:tcPr marL="56765" marR="56765" marT="28383" marB="28383" anchor="ctr"/>
                </a:tc>
                <a:tc>
                  <a:txBody>
                    <a:bodyPr/>
                    <a:lstStyle/>
                    <a:p>
                      <a:pPr>
                        <a:buNone/>
                      </a:pPr>
                      <a:r>
                        <a:rPr lang="en-US" sz="1100"/>
                        <a:t>research funding, innovation, science, universities, research chairs, commercialization</a:t>
                      </a:r>
                    </a:p>
                  </a:txBody>
                  <a:tcPr marL="56765" marR="56765" marT="28383" marB="28383" anchor="ctr"/>
                </a:tc>
                <a:extLst>
                  <a:ext uri="{0D108BD9-81ED-4DB2-BD59-A6C34878D82A}">
                    <a16:rowId xmlns:a16="http://schemas.microsoft.com/office/drawing/2014/main" val="1119807239"/>
                  </a:ext>
                </a:extLst>
              </a:tr>
              <a:tr h="791021">
                <a:tc>
                  <a:txBody>
                    <a:bodyPr/>
                    <a:lstStyle/>
                    <a:p>
                      <a:pPr>
                        <a:buNone/>
                      </a:pPr>
                      <a:r>
                        <a:rPr lang="en-US" sz="1100" b="1"/>
                        <a:t>Skills training and labour-market development</a:t>
                      </a:r>
                    </a:p>
                  </a:txBody>
                  <a:tcPr marL="56765" marR="56765" marT="28383" marB="28383" anchor="ctr"/>
                </a:tc>
                <a:tc>
                  <a:txBody>
                    <a:bodyPr/>
                    <a:lstStyle/>
                    <a:p>
                      <a:pPr>
                        <a:buNone/>
                      </a:pPr>
                      <a:r>
                        <a:rPr lang="en-US" sz="1100"/>
                        <a:t>Education framed as workforce preparation and job readiness</a:t>
                      </a:r>
                    </a:p>
                  </a:txBody>
                  <a:tcPr marL="56765" marR="56765" marT="28383" marB="28383" anchor="ctr"/>
                </a:tc>
                <a:tc>
                  <a:txBody>
                    <a:bodyPr/>
                    <a:lstStyle/>
                    <a:p>
                      <a:pPr>
                        <a:buNone/>
                      </a:pPr>
                      <a:r>
                        <a:rPr lang="en-US" sz="1100"/>
                        <a:t>skills training, apprenticeship, skilled trades, employability, upskilling, labour shortages</a:t>
                      </a:r>
                    </a:p>
                  </a:txBody>
                  <a:tcPr marL="56765" marR="56765" marT="28383" marB="28383" anchor="ctr"/>
                </a:tc>
                <a:extLst>
                  <a:ext uri="{0D108BD9-81ED-4DB2-BD59-A6C34878D82A}">
                    <a16:rowId xmlns:a16="http://schemas.microsoft.com/office/drawing/2014/main" val="448596382"/>
                  </a:ext>
                </a:extLst>
              </a:tr>
              <a:tr h="617013">
                <a:tc>
                  <a:txBody>
                    <a:bodyPr/>
                    <a:lstStyle/>
                    <a:p>
                      <a:pPr>
                        <a:buNone/>
                      </a:pPr>
                      <a:r>
                        <a:rPr lang="en-CA" sz="1100" b="1"/>
                        <a:t>Early learning and childcare</a:t>
                      </a:r>
                    </a:p>
                  </a:txBody>
                  <a:tcPr marL="56765" marR="56765" marT="28383" marB="28383" anchor="ctr"/>
                </a:tc>
                <a:tc>
                  <a:txBody>
                    <a:bodyPr/>
                    <a:lstStyle/>
                    <a:p>
                      <a:pPr>
                        <a:buNone/>
                      </a:pPr>
                      <a:r>
                        <a:rPr lang="en-US" sz="1100"/>
                        <a:t>Childcare and preschool discussed as part of early education and development</a:t>
                      </a:r>
                    </a:p>
                  </a:txBody>
                  <a:tcPr marL="56765" marR="56765" marT="28383" marB="28383" anchor="ctr"/>
                </a:tc>
                <a:tc>
                  <a:txBody>
                    <a:bodyPr/>
                    <a:lstStyle/>
                    <a:p>
                      <a:pPr>
                        <a:buNone/>
                      </a:pPr>
                      <a:r>
                        <a:rPr lang="en-US" sz="1100" dirty="0"/>
                        <a:t>childcare, early learning, preschool, early childhood education, school readiness</a:t>
                      </a:r>
                    </a:p>
                  </a:txBody>
                  <a:tcPr marL="56765" marR="56765" marT="28383" marB="28383" anchor="ctr"/>
                </a:tc>
                <a:extLst>
                  <a:ext uri="{0D108BD9-81ED-4DB2-BD59-A6C34878D82A}">
                    <a16:rowId xmlns:a16="http://schemas.microsoft.com/office/drawing/2014/main" val="3588590866"/>
                  </a:ext>
                </a:extLst>
              </a:tr>
              <a:tr h="948859">
                <a:tc>
                  <a:txBody>
                    <a:bodyPr/>
                    <a:lstStyle/>
                    <a:p>
                      <a:pPr>
                        <a:buNone/>
                      </a:pPr>
                      <a:r>
                        <a:rPr lang="en-CA" sz="1100" b="1"/>
                        <a:t>Federalism, jurisdiction, and transfers</a:t>
                      </a:r>
                    </a:p>
                  </a:txBody>
                  <a:tcPr marL="56765" marR="56765" marT="28383" marB="28383" anchor="ctr"/>
                </a:tc>
                <a:tc>
                  <a:txBody>
                    <a:bodyPr/>
                    <a:lstStyle/>
                    <a:p>
                      <a:pPr>
                        <a:buNone/>
                      </a:pPr>
                      <a:r>
                        <a:rPr lang="en-US" sz="1100"/>
                        <a:t>Education framed as an issue of authority, funding, and federal-provincial relations</a:t>
                      </a:r>
                    </a:p>
                  </a:txBody>
                  <a:tcPr marL="56765" marR="56765" marT="28383" marB="28383" anchor="ctr"/>
                </a:tc>
                <a:tc>
                  <a:txBody>
                    <a:bodyPr/>
                    <a:lstStyle/>
                    <a:p>
                      <a:pPr>
                        <a:buNone/>
                      </a:pPr>
                      <a:r>
                        <a:rPr lang="en-US" sz="1100" dirty="0"/>
                        <a:t>jurisdiction, transfers, federal role, provincial responsibility, national standards, intergovernmental conflict</a:t>
                      </a:r>
                    </a:p>
                  </a:txBody>
                  <a:tcPr marL="56765" marR="56765" marT="28383" marB="28383" anchor="ctr"/>
                </a:tc>
                <a:extLst>
                  <a:ext uri="{0D108BD9-81ED-4DB2-BD59-A6C34878D82A}">
                    <a16:rowId xmlns:a16="http://schemas.microsoft.com/office/drawing/2014/main" val="3530189105"/>
                  </a:ext>
                </a:extLst>
              </a:tr>
            </a:tbl>
          </a:graphicData>
        </a:graphic>
      </p:graphicFrame>
    </p:spTree>
    <p:extLst>
      <p:ext uri="{BB962C8B-B14F-4D97-AF65-F5344CB8AC3E}">
        <p14:creationId xmlns:p14="http://schemas.microsoft.com/office/powerpoint/2010/main" val="1559815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E69925-38E2-F518-1DBF-02B6410A7625}"/>
              </a:ext>
            </a:extLst>
          </p:cNvPr>
          <p:cNvSpPr>
            <a:spLocks noGrp="1"/>
          </p:cNvSpPr>
          <p:nvPr>
            <p:ph type="title"/>
          </p:nvPr>
        </p:nvSpPr>
        <p:spPr>
          <a:xfrm>
            <a:off x="838200" y="365125"/>
            <a:ext cx="10515600" cy="1325563"/>
          </a:xfrm>
        </p:spPr>
        <p:txBody>
          <a:bodyPr>
            <a:normAutofit/>
          </a:bodyPr>
          <a:lstStyle/>
          <a:p>
            <a:r>
              <a:rPr lang="en-CA" sz="5400"/>
              <a:t>Examples</a:t>
            </a:r>
          </a:p>
        </p:txBody>
      </p:sp>
      <p:sp>
        <p:nvSpPr>
          <p:cNvPr id="22"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Content Placeholder 2">
            <a:extLst>
              <a:ext uri="{FF2B5EF4-FFF2-40B4-BE49-F238E27FC236}">
                <a16:creationId xmlns:a16="http://schemas.microsoft.com/office/drawing/2014/main" id="{B026310D-42C2-015F-2F22-7963E2BC4FA4}"/>
              </a:ext>
            </a:extLst>
          </p:cNvPr>
          <p:cNvGraphicFramePr>
            <a:graphicFrameLocks noGrp="1"/>
          </p:cNvGraphicFramePr>
          <p:nvPr>
            <p:ph idx="1"/>
            <p:extLst>
              <p:ext uri="{D42A27DB-BD31-4B8C-83A1-F6EECF244321}">
                <p14:modId xmlns:p14="http://schemas.microsoft.com/office/powerpoint/2010/main" val="2267260133"/>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44756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43BFF7-79FC-8815-FAEF-47B71666885B}"/>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100" kern="1200">
                <a:solidFill>
                  <a:schemeClr val="tx1"/>
                </a:solidFill>
                <a:latin typeface="+mj-lt"/>
                <a:ea typeface="+mj-ea"/>
                <a:cs typeface="+mj-cs"/>
              </a:rPr>
              <a:t>How does education show up in parliamentary speeches over time? </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436E22B-81C6-23AE-A2F7-54568F0EC074}"/>
              </a:ext>
            </a:extLst>
          </p:cNvPr>
          <p:cNvPicPr>
            <a:picLocks noGrp="1" noChangeAspect="1"/>
          </p:cNvPicPr>
          <p:nvPr>
            <p:ph idx="1"/>
          </p:nvPr>
        </p:nvPicPr>
        <p:blipFill>
          <a:blip r:embed="rId3"/>
          <a:srcRect t="8924"/>
          <a:stretch>
            <a:fillRect/>
          </a:stretch>
        </p:blipFill>
        <p:spPr>
          <a:xfrm>
            <a:off x="4654296" y="1386554"/>
            <a:ext cx="7214616" cy="4057459"/>
          </a:xfrm>
          <a:prstGeom prst="rect">
            <a:avLst/>
          </a:prstGeom>
        </p:spPr>
      </p:pic>
    </p:spTree>
    <p:extLst>
      <p:ext uri="{BB962C8B-B14F-4D97-AF65-F5344CB8AC3E}">
        <p14:creationId xmlns:p14="http://schemas.microsoft.com/office/powerpoint/2010/main" val="549640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33BE6-74A6-9E5F-C9A1-5B4B441B9CFE}"/>
              </a:ext>
            </a:extLst>
          </p:cNvPr>
          <p:cNvSpPr>
            <a:spLocks noGrp="1"/>
          </p:cNvSpPr>
          <p:nvPr>
            <p:ph type="title"/>
          </p:nvPr>
        </p:nvSpPr>
        <p:spPr/>
        <p:txBody>
          <a:bodyPr/>
          <a:lstStyle/>
          <a:p>
            <a:r>
              <a:rPr lang="en-CA" dirty="0"/>
              <a:t>Results: Hand-Code/LLM zero-shot Validation</a:t>
            </a:r>
          </a:p>
        </p:txBody>
      </p:sp>
      <p:graphicFrame>
        <p:nvGraphicFramePr>
          <p:cNvPr id="9" name="Content Placeholder 5">
            <a:extLst>
              <a:ext uri="{FF2B5EF4-FFF2-40B4-BE49-F238E27FC236}">
                <a16:creationId xmlns:a16="http://schemas.microsoft.com/office/drawing/2014/main" id="{4AC4A0BE-0F53-71D1-F5E2-E9F9BC626724}"/>
              </a:ext>
            </a:extLst>
          </p:cNvPr>
          <p:cNvGraphicFramePr>
            <a:graphicFrameLocks/>
          </p:cNvGraphicFramePr>
          <p:nvPr>
            <p:extLst>
              <p:ext uri="{D42A27DB-BD31-4B8C-83A1-F6EECF244321}">
                <p14:modId xmlns:p14="http://schemas.microsoft.com/office/powerpoint/2010/main" val="1891891863"/>
              </p:ext>
            </p:extLst>
          </p:nvPr>
        </p:nvGraphicFramePr>
        <p:xfrm>
          <a:off x="2981325" y="2100104"/>
          <a:ext cx="5286375" cy="4033998"/>
        </p:xfrm>
        <a:graphic>
          <a:graphicData uri="http://schemas.openxmlformats.org/drawingml/2006/table">
            <a:tbl>
              <a:tblPr>
                <a:tableStyleId>{9DCAF9ED-07DC-4A11-8D7F-57B35C25682E}</a:tableStyleId>
              </a:tblPr>
              <a:tblGrid>
                <a:gridCol w="1762125">
                  <a:extLst>
                    <a:ext uri="{9D8B030D-6E8A-4147-A177-3AD203B41FA5}">
                      <a16:colId xmlns:a16="http://schemas.microsoft.com/office/drawing/2014/main" val="292720569"/>
                    </a:ext>
                  </a:extLst>
                </a:gridCol>
                <a:gridCol w="1762125">
                  <a:extLst>
                    <a:ext uri="{9D8B030D-6E8A-4147-A177-3AD203B41FA5}">
                      <a16:colId xmlns:a16="http://schemas.microsoft.com/office/drawing/2014/main" val="3721540382"/>
                    </a:ext>
                  </a:extLst>
                </a:gridCol>
                <a:gridCol w="1762125">
                  <a:extLst>
                    <a:ext uri="{9D8B030D-6E8A-4147-A177-3AD203B41FA5}">
                      <a16:colId xmlns:a16="http://schemas.microsoft.com/office/drawing/2014/main" val="1089328054"/>
                    </a:ext>
                  </a:extLst>
                </a:gridCol>
              </a:tblGrid>
              <a:tr h="688731">
                <a:tc>
                  <a:txBody>
                    <a:bodyPr/>
                    <a:lstStyle/>
                    <a:p>
                      <a:pPr>
                        <a:buNone/>
                      </a:pPr>
                      <a:r>
                        <a:rPr lang="en-CA"/>
                        <a:t>Education topic</a:t>
                      </a:r>
                    </a:p>
                  </a:txBody>
                  <a:tcPr anchor="ctr"/>
                </a:tc>
                <a:tc>
                  <a:txBody>
                    <a:bodyPr/>
                    <a:lstStyle/>
                    <a:p>
                      <a:pPr algn="r">
                        <a:buNone/>
                      </a:pPr>
                      <a:r>
                        <a:rPr lang="en-CA"/>
                        <a:t>Kappa</a:t>
                      </a:r>
                    </a:p>
                  </a:txBody>
                  <a:tcPr anchor="ctr"/>
                </a:tc>
                <a:tc>
                  <a:txBody>
                    <a:bodyPr/>
                    <a:lstStyle/>
                    <a:p>
                      <a:pPr algn="r">
                        <a:buNone/>
                      </a:pPr>
                      <a:r>
                        <a:rPr lang="en-CA"/>
                        <a:t>Alpha</a:t>
                      </a:r>
                    </a:p>
                  </a:txBody>
                  <a:tcPr anchor="ctr"/>
                </a:tc>
                <a:extLst>
                  <a:ext uri="{0D108BD9-81ED-4DB2-BD59-A6C34878D82A}">
                    <a16:rowId xmlns:a16="http://schemas.microsoft.com/office/drawing/2014/main" val="3251038235"/>
                  </a:ext>
                </a:extLst>
              </a:tr>
              <a:tr h="393561">
                <a:tc>
                  <a:txBody>
                    <a:bodyPr/>
                    <a:lstStyle/>
                    <a:p>
                      <a:pPr>
                        <a:buNone/>
                      </a:pPr>
                      <a:r>
                        <a:rPr lang="en-CA"/>
                        <a:t>Indigenous</a:t>
                      </a:r>
                    </a:p>
                  </a:txBody>
                  <a:tcPr anchor="ctr"/>
                </a:tc>
                <a:tc>
                  <a:txBody>
                    <a:bodyPr/>
                    <a:lstStyle/>
                    <a:p>
                      <a:pPr algn="r">
                        <a:buNone/>
                      </a:pPr>
                      <a:r>
                        <a:rPr lang="en-CA" dirty="0"/>
                        <a:t>0.280</a:t>
                      </a:r>
                    </a:p>
                  </a:txBody>
                  <a:tcPr anchor="ctr"/>
                </a:tc>
                <a:tc>
                  <a:txBody>
                    <a:bodyPr/>
                    <a:lstStyle/>
                    <a:p>
                      <a:pPr algn="r">
                        <a:buNone/>
                      </a:pPr>
                      <a:r>
                        <a:rPr lang="en-CA"/>
                        <a:t>0.275</a:t>
                      </a:r>
                    </a:p>
                  </a:txBody>
                  <a:tcPr anchor="ctr"/>
                </a:tc>
                <a:extLst>
                  <a:ext uri="{0D108BD9-81ED-4DB2-BD59-A6C34878D82A}">
                    <a16:rowId xmlns:a16="http://schemas.microsoft.com/office/drawing/2014/main" val="153444809"/>
                  </a:ext>
                </a:extLst>
              </a:tr>
              <a:tr h="393561">
                <a:tc>
                  <a:txBody>
                    <a:bodyPr/>
                    <a:lstStyle/>
                    <a:p>
                      <a:pPr>
                        <a:buNone/>
                      </a:pPr>
                      <a:r>
                        <a:rPr lang="en-CA" dirty="0"/>
                        <a:t>Language</a:t>
                      </a:r>
                    </a:p>
                  </a:txBody>
                  <a:tcPr anchor="ctr"/>
                </a:tc>
                <a:tc>
                  <a:txBody>
                    <a:bodyPr/>
                    <a:lstStyle/>
                    <a:p>
                      <a:pPr algn="r">
                        <a:buNone/>
                      </a:pPr>
                      <a:r>
                        <a:rPr lang="en-CA"/>
                        <a:t>0.385</a:t>
                      </a:r>
                    </a:p>
                  </a:txBody>
                  <a:tcPr anchor="ctr"/>
                </a:tc>
                <a:tc>
                  <a:txBody>
                    <a:bodyPr/>
                    <a:lstStyle/>
                    <a:p>
                      <a:pPr algn="r">
                        <a:buNone/>
                      </a:pPr>
                      <a:r>
                        <a:rPr lang="en-CA"/>
                        <a:t>0.386</a:t>
                      </a:r>
                    </a:p>
                  </a:txBody>
                  <a:tcPr anchor="ctr"/>
                </a:tc>
                <a:extLst>
                  <a:ext uri="{0D108BD9-81ED-4DB2-BD59-A6C34878D82A}">
                    <a16:rowId xmlns:a16="http://schemas.microsoft.com/office/drawing/2014/main" val="2618099963"/>
                  </a:ext>
                </a:extLst>
              </a:tr>
              <a:tr h="393561">
                <a:tc>
                  <a:txBody>
                    <a:bodyPr/>
                    <a:lstStyle/>
                    <a:p>
                      <a:pPr>
                        <a:buNone/>
                      </a:pPr>
                      <a:r>
                        <a:rPr lang="en-CA"/>
                        <a:t>Affordability</a:t>
                      </a:r>
                    </a:p>
                  </a:txBody>
                  <a:tcPr anchor="ctr"/>
                </a:tc>
                <a:tc>
                  <a:txBody>
                    <a:bodyPr/>
                    <a:lstStyle/>
                    <a:p>
                      <a:pPr algn="r">
                        <a:buNone/>
                      </a:pPr>
                      <a:r>
                        <a:rPr lang="en-CA" b="1" dirty="0"/>
                        <a:t>0.593</a:t>
                      </a:r>
                    </a:p>
                  </a:txBody>
                  <a:tcPr anchor="ctr"/>
                </a:tc>
                <a:tc>
                  <a:txBody>
                    <a:bodyPr/>
                    <a:lstStyle/>
                    <a:p>
                      <a:pPr algn="r">
                        <a:buNone/>
                      </a:pPr>
                      <a:r>
                        <a:rPr lang="en-CA" b="1" dirty="0"/>
                        <a:t>0.590</a:t>
                      </a:r>
                    </a:p>
                  </a:txBody>
                  <a:tcPr anchor="ctr"/>
                </a:tc>
                <a:extLst>
                  <a:ext uri="{0D108BD9-81ED-4DB2-BD59-A6C34878D82A}">
                    <a16:rowId xmlns:a16="http://schemas.microsoft.com/office/drawing/2014/main" val="2227887961"/>
                  </a:ext>
                </a:extLst>
              </a:tr>
              <a:tr h="688731">
                <a:tc>
                  <a:txBody>
                    <a:bodyPr/>
                    <a:lstStyle/>
                    <a:p>
                      <a:pPr>
                        <a:buNone/>
                      </a:pPr>
                      <a:r>
                        <a:rPr lang="en-CA"/>
                        <a:t>University research</a:t>
                      </a:r>
                    </a:p>
                  </a:txBody>
                  <a:tcPr anchor="ctr"/>
                </a:tc>
                <a:tc>
                  <a:txBody>
                    <a:bodyPr/>
                    <a:lstStyle/>
                    <a:p>
                      <a:pPr algn="r">
                        <a:buNone/>
                      </a:pPr>
                      <a:r>
                        <a:rPr lang="en-CA" dirty="0"/>
                        <a:t>0.387</a:t>
                      </a:r>
                    </a:p>
                  </a:txBody>
                  <a:tcPr anchor="ctr"/>
                </a:tc>
                <a:tc>
                  <a:txBody>
                    <a:bodyPr/>
                    <a:lstStyle/>
                    <a:p>
                      <a:pPr algn="r">
                        <a:buNone/>
                      </a:pPr>
                      <a:r>
                        <a:rPr lang="en-CA"/>
                        <a:t>0.362</a:t>
                      </a:r>
                    </a:p>
                  </a:txBody>
                  <a:tcPr anchor="ctr"/>
                </a:tc>
                <a:extLst>
                  <a:ext uri="{0D108BD9-81ED-4DB2-BD59-A6C34878D82A}">
                    <a16:rowId xmlns:a16="http://schemas.microsoft.com/office/drawing/2014/main" val="3945417136"/>
                  </a:ext>
                </a:extLst>
              </a:tr>
              <a:tr h="393561">
                <a:tc>
                  <a:txBody>
                    <a:bodyPr/>
                    <a:lstStyle/>
                    <a:p>
                      <a:pPr>
                        <a:buNone/>
                      </a:pPr>
                      <a:r>
                        <a:rPr lang="en-CA"/>
                        <a:t>Skills / training</a:t>
                      </a:r>
                    </a:p>
                  </a:txBody>
                  <a:tcPr anchor="ctr"/>
                </a:tc>
                <a:tc>
                  <a:txBody>
                    <a:bodyPr/>
                    <a:lstStyle/>
                    <a:p>
                      <a:pPr algn="r">
                        <a:buNone/>
                      </a:pPr>
                      <a:r>
                        <a:rPr lang="en-CA" b="1" dirty="0"/>
                        <a:t>0.606</a:t>
                      </a:r>
                    </a:p>
                  </a:txBody>
                  <a:tcPr anchor="ctr"/>
                </a:tc>
                <a:tc>
                  <a:txBody>
                    <a:bodyPr/>
                    <a:lstStyle/>
                    <a:p>
                      <a:pPr algn="r">
                        <a:buNone/>
                      </a:pPr>
                      <a:r>
                        <a:rPr lang="en-CA" b="1" dirty="0"/>
                        <a:t>0.606</a:t>
                      </a:r>
                    </a:p>
                  </a:txBody>
                  <a:tcPr anchor="ctr"/>
                </a:tc>
                <a:extLst>
                  <a:ext uri="{0D108BD9-81ED-4DB2-BD59-A6C34878D82A}">
                    <a16:rowId xmlns:a16="http://schemas.microsoft.com/office/drawing/2014/main" val="1733081693"/>
                  </a:ext>
                </a:extLst>
              </a:tr>
              <a:tr h="688731">
                <a:tc>
                  <a:txBody>
                    <a:bodyPr/>
                    <a:lstStyle/>
                    <a:p>
                      <a:pPr>
                        <a:buNone/>
                      </a:pPr>
                      <a:r>
                        <a:rPr lang="en-CA"/>
                        <a:t>Early learning / childcare</a:t>
                      </a:r>
                    </a:p>
                  </a:txBody>
                  <a:tcPr anchor="ctr"/>
                </a:tc>
                <a:tc>
                  <a:txBody>
                    <a:bodyPr/>
                    <a:lstStyle/>
                    <a:p>
                      <a:pPr algn="r">
                        <a:buNone/>
                      </a:pPr>
                      <a:r>
                        <a:rPr lang="en-CA" b="1" dirty="0"/>
                        <a:t>0.664</a:t>
                      </a:r>
                    </a:p>
                  </a:txBody>
                  <a:tcPr anchor="ctr"/>
                </a:tc>
                <a:tc>
                  <a:txBody>
                    <a:bodyPr/>
                    <a:lstStyle/>
                    <a:p>
                      <a:pPr algn="r">
                        <a:buNone/>
                      </a:pPr>
                      <a:r>
                        <a:rPr lang="en-CA" b="1" dirty="0"/>
                        <a:t>0.665</a:t>
                      </a:r>
                    </a:p>
                  </a:txBody>
                  <a:tcPr anchor="ctr"/>
                </a:tc>
                <a:extLst>
                  <a:ext uri="{0D108BD9-81ED-4DB2-BD59-A6C34878D82A}">
                    <a16:rowId xmlns:a16="http://schemas.microsoft.com/office/drawing/2014/main" val="2231728803"/>
                  </a:ext>
                </a:extLst>
              </a:tr>
              <a:tr h="393561">
                <a:tc>
                  <a:txBody>
                    <a:bodyPr/>
                    <a:lstStyle/>
                    <a:p>
                      <a:pPr>
                        <a:buNone/>
                      </a:pPr>
                      <a:r>
                        <a:rPr lang="en-CA"/>
                        <a:t>Federalism</a:t>
                      </a:r>
                    </a:p>
                  </a:txBody>
                  <a:tcPr anchor="ctr"/>
                </a:tc>
                <a:tc>
                  <a:txBody>
                    <a:bodyPr/>
                    <a:lstStyle/>
                    <a:p>
                      <a:pPr algn="r">
                        <a:buNone/>
                      </a:pPr>
                      <a:r>
                        <a:rPr lang="en-CA"/>
                        <a:t>0.296</a:t>
                      </a:r>
                    </a:p>
                  </a:txBody>
                  <a:tcPr anchor="ctr"/>
                </a:tc>
                <a:tc>
                  <a:txBody>
                    <a:bodyPr/>
                    <a:lstStyle/>
                    <a:p>
                      <a:pPr algn="r">
                        <a:buNone/>
                      </a:pPr>
                      <a:r>
                        <a:rPr lang="en-CA" dirty="0"/>
                        <a:t>0.293</a:t>
                      </a:r>
                    </a:p>
                  </a:txBody>
                  <a:tcPr anchor="ctr"/>
                </a:tc>
                <a:extLst>
                  <a:ext uri="{0D108BD9-81ED-4DB2-BD59-A6C34878D82A}">
                    <a16:rowId xmlns:a16="http://schemas.microsoft.com/office/drawing/2014/main" val="2636218165"/>
                  </a:ext>
                </a:extLst>
              </a:tr>
            </a:tbl>
          </a:graphicData>
        </a:graphic>
      </p:graphicFrame>
    </p:spTree>
    <p:extLst>
      <p:ext uri="{BB962C8B-B14F-4D97-AF65-F5344CB8AC3E}">
        <p14:creationId xmlns:p14="http://schemas.microsoft.com/office/powerpoint/2010/main" val="3515532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604E5-335D-CAF1-0D9F-33F52DB9C6B1}"/>
              </a:ext>
            </a:extLst>
          </p:cNvPr>
          <p:cNvSpPr>
            <a:spLocks noGrp="1"/>
          </p:cNvSpPr>
          <p:nvPr>
            <p:ph type="title"/>
          </p:nvPr>
        </p:nvSpPr>
        <p:spPr/>
        <p:txBody>
          <a:bodyPr/>
          <a:lstStyle/>
          <a:p>
            <a:r>
              <a:rPr lang="en-CA" dirty="0"/>
              <a:t>Results: Overall Topic Proportions</a:t>
            </a:r>
          </a:p>
        </p:txBody>
      </p:sp>
      <p:sp>
        <p:nvSpPr>
          <p:cNvPr id="3" name="Content Placeholder 2">
            <a:extLst>
              <a:ext uri="{FF2B5EF4-FFF2-40B4-BE49-F238E27FC236}">
                <a16:creationId xmlns:a16="http://schemas.microsoft.com/office/drawing/2014/main" id="{D84F6B86-1005-08C4-B9C1-641CF9852572}"/>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D1D279F3-8E1D-19F3-84B9-D50508CBB3B9}"/>
              </a:ext>
            </a:extLst>
          </p:cNvPr>
          <p:cNvPicPr>
            <a:picLocks noChangeAspect="1"/>
          </p:cNvPicPr>
          <p:nvPr/>
        </p:nvPicPr>
        <p:blipFill>
          <a:blip r:embed="rId3"/>
          <a:stretch>
            <a:fillRect/>
          </a:stretch>
        </p:blipFill>
        <p:spPr>
          <a:xfrm>
            <a:off x="2289413" y="1652086"/>
            <a:ext cx="7613174" cy="4698416"/>
          </a:xfrm>
          <a:prstGeom prst="rect">
            <a:avLst/>
          </a:prstGeom>
        </p:spPr>
      </p:pic>
    </p:spTree>
    <p:extLst>
      <p:ext uri="{BB962C8B-B14F-4D97-AF65-F5344CB8AC3E}">
        <p14:creationId xmlns:p14="http://schemas.microsoft.com/office/powerpoint/2010/main" val="4210450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F1CF1-B0E1-23AE-C94E-380ACBB6A84C}"/>
              </a:ext>
            </a:extLst>
          </p:cNvPr>
          <p:cNvSpPr>
            <a:spLocks noGrp="1"/>
          </p:cNvSpPr>
          <p:nvPr>
            <p:ph type="title"/>
          </p:nvPr>
        </p:nvSpPr>
        <p:spPr/>
        <p:txBody>
          <a:bodyPr/>
          <a:lstStyle/>
          <a:p>
            <a:r>
              <a:rPr lang="en-CA" dirty="0"/>
              <a:t>Results: Proportion of Topics Over Time</a:t>
            </a:r>
          </a:p>
        </p:txBody>
      </p:sp>
      <p:sp>
        <p:nvSpPr>
          <p:cNvPr id="3" name="Content Placeholder 2">
            <a:extLst>
              <a:ext uri="{FF2B5EF4-FFF2-40B4-BE49-F238E27FC236}">
                <a16:creationId xmlns:a16="http://schemas.microsoft.com/office/drawing/2014/main" id="{EE68BCD7-C227-E4A9-9A44-043330A55900}"/>
              </a:ext>
            </a:extLst>
          </p:cNvPr>
          <p:cNvSpPr>
            <a:spLocks noGrp="1"/>
          </p:cNvSpPr>
          <p:nvPr>
            <p:ph idx="1"/>
          </p:nvPr>
        </p:nvSpPr>
        <p:spPr/>
        <p:txBody>
          <a:bodyPr/>
          <a:lstStyle/>
          <a:p>
            <a:endParaRPr lang="en-CA" dirty="0"/>
          </a:p>
        </p:txBody>
      </p:sp>
      <p:pic>
        <p:nvPicPr>
          <p:cNvPr id="5" name="Picture 4">
            <a:extLst>
              <a:ext uri="{FF2B5EF4-FFF2-40B4-BE49-F238E27FC236}">
                <a16:creationId xmlns:a16="http://schemas.microsoft.com/office/drawing/2014/main" id="{249358AF-7987-17A5-B7EC-D2EFD868A363}"/>
              </a:ext>
            </a:extLst>
          </p:cNvPr>
          <p:cNvPicPr>
            <a:picLocks noChangeAspect="1"/>
          </p:cNvPicPr>
          <p:nvPr/>
        </p:nvPicPr>
        <p:blipFill>
          <a:blip r:embed="rId3"/>
          <a:stretch>
            <a:fillRect/>
          </a:stretch>
        </p:blipFill>
        <p:spPr>
          <a:xfrm>
            <a:off x="1928812" y="1429544"/>
            <a:ext cx="8334375" cy="5143500"/>
          </a:xfrm>
          <a:prstGeom prst="rect">
            <a:avLst/>
          </a:prstGeom>
        </p:spPr>
      </p:pic>
    </p:spTree>
    <p:extLst>
      <p:ext uri="{BB962C8B-B14F-4D97-AF65-F5344CB8AC3E}">
        <p14:creationId xmlns:p14="http://schemas.microsoft.com/office/powerpoint/2010/main" val="609498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65F18-E6D4-F01C-495D-5CA00F6CA52F}"/>
              </a:ext>
            </a:extLst>
          </p:cNvPr>
          <p:cNvSpPr>
            <a:spLocks noGrp="1"/>
          </p:cNvSpPr>
          <p:nvPr>
            <p:ph type="title"/>
          </p:nvPr>
        </p:nvSpPr>
        <p:spPr>
          <a:xfrm>
            <a:off x="838200" y="130520"/>
            <a:ext cx="10515600" cy="1325563"/>
          </a:xfrm>
        </p:spPr>
        <p:txBody>
          <a:bodyPr/>
          <a:lstStyle/>
          <a:p>
            <a:r>
              <a:rPr lang="en-CA" dirty="0"/>
              <a:t>Results: Party Differences</a:t>
            </a:r>
          </a:p>
        </p:txBody>
      </p:sp>
      <p:pic>
        <p:nvPicPr>
          <p:cNvPr id="7" name="Content Placeholder 6">
            <a:extLst>
              <a:ext uri="{FF2B5EF4-FFF2-40B4-BE49-F238E27FC236}">
                <a16:creationId xmlns:a16="http://schemas.microsoft.com/office/drawing/2014/main" id="{E8B61C63-B309-4553-1A46-F5B38F60BEA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68368" y="1293838"/>
            <a:ext cx="8150464" cy="5433642"/>
          </a:xfrm>
          <a:prstGeom prst="rect">
            <a:avLst/>
          </a:prstGeom>
        </p:spPr>
      </p:pic>
      <p:sp>
        <p:nvSpPr>
          <p:cNvPr id="4" name="AutoShape 2">
            <a:extLst>
              <a:ext uri="{FF2B5EF4-FFF2-40B4-BE49-F238E27FC236}">
                <a16:creationId xmlns:a16="http://schemas.microsoft.com/office/drawing/2014/main" id="{C3FB3A8D-59B1-C0A9-8D32-983F339A6008}"/>
              </a:ext>
            </a:extLst>
          </p:cNvPr>
          <p:cNvSpPr>
            <a:spLocks noChangeAspect="1" noChangeArrowheads="1"/>
          </p:cNvSpPr>
          <p:nvPr/>
        </p:nvSpPr>
        <p:spPr bwMode="auto">
          <a:xfrm>
            <a:off x="5943600" y="3276600"/>
            <a:ext cx="2956560" cy="29565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CA"/>
          </a:p>
        </p:txBody>
      </p:sp>
    </p:spTree>
    <p:extLst>
      <p:ext uri="{BB962C8B-B14F-4D97-AF65-F5344CB8AC3E}">
        <p14:creationId xmlns:p14="http://schemas.microsoft.com/office/powerpoint/2010/main" val="1104313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4BDDF2A-5582-0AE4-7DAC-FF75D0B02EAB}"/>
              </a:ext>
            </a:extLst>
          </p:cNvPr>
          <p:cNvSpPr>
            <a:spLocks noGrp="1"/>
          </p:cNvSpPr>
          <p:nvPr>
            <p:ph type="title"/>
          </p:nvPr>
        </p:nvSpPr>
        <p:spPr>
          <a:xfrm>
            <a:off x="841248" y="548640"/>
            <a:ext cx="3600860" cy="5431536"/>
          </a:xfrm>
        </p:spPr>
        <p:txBody>
          <a:bodyPr>
            <a:normAutofit/>
          </a:bodyPr>
          <a:lstStyle/>
          <a:p>
            <a:r>
              <a:rPr lang="en-CA" sz="5400" dirty="0"/>
              <a:t>How do MPs talk about education?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B4311CB-44AD-CA52-5CFF-D7A4279EB78E}"/>
              </a:ext>
            </a:extLst>
          </p:cNvPr>
          <p:cNvSpPr>
            <a:spLocks noGrp="1"/>
          </p:cNvSpPr>
          <p:nvPr>
            <p:ph idx="1"/>
          </p:nvPr>
        </p:nvSpPr>
        <p:spPr>
          <a:xfrm>
            <a:off x="5126418" y="552091"/>
            <a:ext cx="6224335" cy="5431536"/>
          </a:xfrm>
        </p:spPr>
        <p:txBody>
          <a:bodyPr anchor="ctr">
            <a:normAutofit/>
          </a:bodyPr>
          <a:lstStyle/>
          <a:p>
            <a:r>
              <a:rPr lang="en-CA" sz="2200" dirty="0"/>
              <a:t>Education appears through recurring topic clusters in parliamentary speech</a:t>
            </a:r>
          </a:p>
          <a:p>
            <a:r>
              <a:rPr lang="en-CA" sz="2200" dirty="0"/>
              <a:t>In this project, the clearest patterns were affordability, skills/training, and early learning. </a:t>
            </a:r>
          </a:p>
          <a:p>
            <a:r>
              <a:rPr lang="en-CA" sz="2200" dirty="0"/>
              <a:t>Topic prevalence also varies over time and across parties </a:t>
            </a:r>
          </a:p>
          <a:p>
            <a:r>
              <a:rPr lang="en-CA" sz="2200" dirty="0"/>
              <a:t>Some education references fell outside of my codebook, which suggest that federal education discourse extends beyond the topics I’ve identified here</a:t>
            </a:r>
          </a:p>
        </p:txBody>
      </p:sp>
    </p:spTree>
    <p:extLst>
      <p:ext uri="{BB962C8B-B14F-4D97-AF65-F5344CB8AC3E}">
        <p14:creationId xmlns:p14="http://schemas.microsoft.com/office/powerpoint/2010/main" val="2447579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18710E-A54D-9701-6800-744F9FDD96BC}"/>
              </a:ext>
            </a:extLst>
          </p:cNvPr>
          <p:cNvSpPr>
            <a:spLocks noGrp="1"/>
          </p:cNvSpPr>
          <p:nvPr>
            <p:ph type="title"/>
          </p:nvPr>
        </p:nvSpPr>
        <p:spPr>
          <a:xfrm>
            <a:off x="841248" y="548640"/>
            <a:ext cx="3600860" cy="5431536"/>
          </a:xfrm>
        </p:spPr>
        <p:txBody>
          <a:bodyPr>
            <a:normAutofit/>
          </a:bodyPr>
          <a:lstStyle/>
          <a:p>
            <a:r>
              <a:rPr lang="en-CA" sz="5400"/>
              <a:t>Next Steps</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2253229-0121-CE96-4DE7-1AC3C6313B9E}"/>
              </a:ext>
            </a:extLst>
          </p:cNvPr>
          <p:cNvSpPr>
            <a:spLocks noGrp="1"/>
          </p:cNvSpPr>
          <p:nvPr>
            <p:ph idx="1"/>
          </p:nvPr>
        </p:nvSpPr>
        <p:spPr>
          <a:xfrm>
            <a:off x="5126418" y="552091"/>
            <a:ext cx="6224335" cy="5431536"/>
          </a:xfrm>
        </p:spPr>
        <p:txBody>
          <a:bodyPr anchor="ctr">
            <a:normAutofit/>
          </a:bodyPr>
          <a:lstStyle/>
          <a:p>
            <a:r>
              <a:rPr lang="en-CA" sz="2200" dirty="0"/>
              <a:t>Refine the codebook and reconceptualize weaker categories</a:t>
            </a:r>
          </a:p>
          <a:p>
            <a:r>
              <a:rPr lang="en-CA" sz="2200" dirty="0"/>
              <a:t>Improve or retrain topic-specific classifiers</a:t>
            </a:r>
          </a:p>
          <a:p>
            <a:r>
              <a:rPr lang="en-CA" sz="2200" dirty="0"/>
              <a:t>Connect spikes in topic prevalence to historical and political events in Canadian history  </a:t>
            </a:r>
          </a:p>
        </p:txBody>
      </p:sp>
    </p:spTree>
    <p:extLst>
      <p:ext uri="{BB962C8B-B14F-4D97-AF65-F5344CB8AC3E}">
        <p14:creationId xmlns:p14="http://schemas.microsoft.com/office/powerpoint/2010/main" val="2934778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4658AA-8A05-8788-1121-8ADB21C18C4B}"/>
              </a:ext>
            </a:extLst>
          </p:cNvPr>
          <p:cNvSpPr>
            <a:spLocks noGrp="1"/>
          </p:cNvSpPr>
          <p:nvPr>
            <p:ph type="title"/>
          </p:nvPr>
        </p:nvSpPr>
        <p:spPr>
          <a:xfrm>
            <a:off x="841248" y="548640"/>
            <a:ext cx="3600860" cy="5431536"/>
          </a:xfrm>
        </p:spPr>
        <p:txBody>
          <a:bodyPr>
            <a:normAutofit/>
          </a:bodyPr>
          <a:lstStyle/>
          <a:p>
            <a:r>
              <a:rPr lang="en-CA" sz="5400"/>
              <a:t>Thanks! Questions?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A8616FB-3222-AE86-1867-6B515C1A9D8C}"/>
              </a:ext>
            </a:extLst>
          </p:cNvPr>
          <p:cNvSpPr>
            <a:spLocks noGrp="1"/>
          </p:cNvSpPr>
          <p:nvPr>
            <p:ph idx="1"/>
          </p:nvPr>
        </p:nvSpPr>
        <p:spPr>
          <a:xfrm>
            <a:off x="5126418" y="552091"/>
            <a:ext cx="6224335" cy="5431536"/>
          </a:xfrm>
        </p:spPr>
        <p:txBody>
          <a:bodyPr anchor="ctr">
            <a:normAutofit/>
          </a:bodyPr>
          <a:lstStyle/>
          <a:p>
            <a:endParaRPr lang="en-CA" sz="2200"/>
          </a:p>
        </p:txBody>
      </p:sp>
    </p:spTree>
    <p:extLst>
      <p:ext uri="{BB962C8B-B14F-4D97-AF65-F5344CB8AC3E}">
        <p14:creationId xmlns:p14="http://schemas.microsoft.com/office/powerpoint/2010/main" val="4826044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71483-57E1-8150-1E82-C30EF7B887AA}"/>
              </a:ext>
            </a:extLst>
          </p:cNvPr>
          <p:cNvSpPr>
            <a:spLocks noGrp="1"/>
          </p:cNvSpPr>
          <p:nvPr>
            <p:ph type="title"/>
          </p:nvPr>
        </p:nvSpPr>
        <p:spPr/>
        <p:txBody>
          <a:bodyPr/>
          <a:lstStyle/>
          <a:p>
            <a:r>
              <a:rPr lang="en-CA" dirty="0"/>
              <a:t>Indigenous, Appendix</a:t>
            </a:r>
          </a:p>
        </p:txBody>
      </p:sp>
      <p:pic>
        <p:nvPicPr>
          <p:cNvPr id="9" name="Content Placeholder 8">
            <a:extLst>
              <a:ext uri="{FF2B5EF4-FFF2-40B4-BE49-F238E27FC236}">
                <a16:creationId xmlns:a16="http://schemas.microsoft.com/office/drawing/2014/main" id="{087A48EB-7971-6DB3-62F4-1D274387F1B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83510" y="1564282"/>
            <a:ext cx="6149873" cy="4244708"/>
          </a:xfrm>
          <a:prstGeom prst="rect">
            <a:avLst/>
          </a:prstGeom>
        </p:spPr>
      </p:pic>
      <p:pic>
        <p:nvPicPr>
          <p:cNvPr id="11" name="Picture 10">
            <a:extLst>
              <a:ext uri="{FF2B5EF4-FFF2-40B4-BE49-F238E27FC236}">
                <a16:creationId xmlns:a16="http://schemas.microsoft.com/office/drawing/2014/main" id="{7CD75330-E484-72C5-0A20-385443C62D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754" y="1301118"/>
            <a:ext cx="4645310" cy="4771037"/>
          </a:xfrm>
          <a:prstGeom prst="rect">
            <a:avLst/>
          </a:prstGeom>
        </p:spPr>
      </p:pic>
      <p:pic>
        <p:nvPicPr>
          <p:cNvPr id="13" name="Picture 12">
            <a:extLst>
              <a:ext uri="{FF2B5EF4-FFF2-40B4-BE49-F238E27FC236}">
                <a16:creationId xmlns:a16="http://schemas.microsoft.com/office/drawing/2014/main" id="{D2E4189E-FD9A-0305-2DEB-324191A31B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6123648"/>
            <a:ext cx="10188823" cy="571550"/>
          </a:xfrm>
          <a:prstGeom prst="rect">
            <a:avLst/>
          </a:prstGeom>
        </p:spPr>
      </p:pic>
    </p:spTree>
    <p:extLst>
      <p:ext uri="{BB962C8B-B14F-4D97-AF65-F5344CB8AC3E}">
        <p14:creationId xmlns:p14="http://schemas.microsoft.com/office/powerpoint/2010/main" val="2563617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4FC31-C773-C2C1-D660-2234F5FC617E}"/>
              </a:ext>
            </a:extLst>
          </p:cNvPr>
          <p:cNvSpPr>
            <a:spLocks noGrp="1"/>
          </p:cNvSpPr>
          <p:nvPr>
            <p:ph type="title"/>
          </p:nvPr>
        </p:nvSpPr>
        <p:spPr/>
        <p:txBody>
          <a:bodyPr/>
          <a:lstStyle/>
          <a:p>
            <a:r>
              <a:rPr lang="en-CA" dirty="0"/>
              <a:t>Language, Appendix</a:t>
            </a:r>
          </a:p>
        </p:txBody>
      </p:sp>
      <p:sp>
        <p:nvSpPr>
          <p:cNvPr id="3" name="Content Placeholder 2">
            <a:extLst>
              <a:ext uri="{FF2B5EF4-FFF2-40B4-BE49-F238E27FC236}">
                <a16:creationId xmlns:a16="http://schemas.microsoft.com/office/drawing/2014/main" id="{DDC69DB8-3D51-9164-FF1B-6861373E5FE2}"/>
              </a:ext>
            </a:extLst>
          </p:cNvPr>
          <p:cNvSpPr>
            <a:spLocks noGrp="1"/>
          </p:cNvSpPr>
          <p:nvPr>
            <p:ph idx="1"/>
          </p:nvPr>
        </p:nvSpPr>
        <p:spPr/>
        <p:txBody>
          <a:bodyPr/>
          <a:lstStyle/>
          <a:p>
            <a:endParaRPr lang="en-CA" dirty="0"/>
          </a:p>
        </p:txBody>
      </p:sp>
      <p:pic>
        <p:nvPicPr>
          <p:cNvPr id="5" name="Content Placeholder 4">
            <a:extLst>
              <a:ext uri="{FF2B5EF4-FFF2-40B4-BE49-F238E27FC236}">
                <a16:creationId xmlns:a16="http://schemas.microsoft.com/office/drawing/2014/main" id="{5F1E049C-7412-A637-B80F-7BEE736FA8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334" y="1560189"/>
            <a:ext cx="6195597" cy="4244708"/>
          </a:xfrm>
          <a:prstGeom prst="rect">
            <a:avLst/>
          </a:prstGeom>
        </p:spPr>
      </p:pic>
      <p:pic>
        <p:nvPicPr>
          <p:cNvPr id="9" name="Picture 8">
            <a:extLst>
              <a:ext uri="{FF2B5EF4-FFF2-40B4-BE49-F238E27FC236}">
                <a16:creationId xmlns:a16="http://schemas.microsoft.com/office/drawing/2014/main" id="{1404BA5C-7A32-AB9C-9F86-6B19A71494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334" y="6195003"/>
            <a:ext cx="10158340" cy="662997"/>
          </a:xfrm>
          <a:prstGeom prst="rect">
            <a:avLst/>
          </a:prstGeom>
        </p:spPr>
      </p:pic>
      <p:pic>
        <p:nvPicPr>
          <p:cNvPr id="7" name="Picture 6">
            <a:extLst>
              <a:ext uri="{FF2B5EF4-FFF2-40B4-BE49-F238E27FC236}">
                <a16:creationId xmlns:a16="http://schemas.microsoft.com/office/drawing/2014/main" id="{3D8F84E6-93BA-D2E1-C201-B1584030D2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0957" y="1517996"/>
            <a:ext cx="4497709" cy="4459593"/>
          </a:xfrm>
          <a:prstGeom prst="rect">
            <a:avLst/>
          </a:prstGeom>
        </p:spPr>
      </p:pic>
    </p:spTree>
    <p:extLst>
      <p:ext uri="{BB962C8B-B14F-4D97-AF65-F5344CB8AC3E}">
        <p14:creationId xmlns:p14="http://schemas.microsoft.com/office/powerpoint/2010/main" val="11607503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94257-BA78-D85E-7C47-9A2FAE65BDB0}"/>
              </a:ext>
            </a:extLst>
          </p:cNvPr>
          <p:cNvSpPr>
            <a:spLocks noGrp="1"/>
          </p:cNvSpPr>
          <p:nvPr>
            <p:ph type="title"/>
          </p:nvPr>
        </p:nvSpPr>
        <p:spPr/>
        <p:txBody>
          <a:bodyPr/>
          <a:lstStyle/>
          <a:p>
            <a:r>
              <a:rPr lang="en-CA" dirty="0"/>
              <a:t>Education Affordability/Access, Appendix</a:t>
            </a:r>
          </a:p>
        </p:txBody>
      </p:sp>
      <p:pic>
        <p:nvPicPr>
          <p:cNvPr id="5" name="Content Placeholder 4">
            <a:extLst>
              <a:ext uri="{FF2B5EF4-FFF2-40B4-BE49-F238E27FC236}">
                <a16:creationId xmlns:a16="http://schemas.microsoft.com/office/drawing/2014/main" id="{82C8AF9F-0A9E-585E-C68F-41DD5E17A4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13342"/>
            <a:ext cx="6149873" cy="4176122"/>
          </a:xfrm>
          <a:prstGeom prst="rect">
            <a:avLst/>
          </a:prstGeom>
        </p:spPr>
      </p:pic>
      <p:pic>
        <p:nvPicPr>
          <p:cNvPr id="7" name="Picture 6">
            <a:extLst>
              <a:ext uri="{FF2B5EF4-FFF2-40B4-BE49-F238E27FC236}">
                <a16:creationId xmlns:a16="http://schemas.microsoft.com/office/drawing/2014/main" id="{07D89674-2410-8A0E-A35D-9EB3378913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9261" y="1463144"/>
            <a:ext cx="4059605" cy="4248974"/>
          </a:xfrm>
          <a:prstGeom prst="rect">
            <a:avLst/>
          </a:prstGeom>
        </p:spPr>
      </p:pic>
      <p:pic>
        <p:nvPicPr>
          <p:cNvPr id="9" name="Picture 8">
            <a:extLst>
              <a:ext uri="{FF2B5EF4-FFF2-40B4-BE49-F238E27FC236}">
                <a16:creationId xmlns:a16="http://schemas.microsoft.com/office/drawing/2014/main" id="{DC1401AD-CD35-252A-FB63-3B2972AB94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202" y="6103501"/>
            <a:ext cx="10112616" cy="586791"/>
          </a:xfrm>
          <a:prstGeom prst="rect">
            <a:avLst/>
          </a:prstGeom>
        </p:spPr>
      </p:pic>
    </p:spTree>
    <p:extLst>
      <p:ext uri="{BB962C8B-B14F-4D97-AF65-F5344CB8AC3E}">
        <p14:creationId xmlns:p14="http://schemas.microsoft.com/office/powerpoint/2010/main" val="2835081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E647F-5CBA-E97D-E674-11EC806084F7}"/>
              </a:ext>
            </a:extLst>
          </p:cNvPr>
          <p:cNvSpPr>
            <a:spLocks noGrp="1"/>
          </p:cNvSpPr>
          <p:nvPr>
            <p:ph type="title"/>
          </p:nvPr>
        </p:nvSpPr>
        <p:spPr/>
        <p:txBody>
          <a:bodyPr/>
          <a:lstStyle/>
          <a:p>
            <a:r>
              <a:rPr lang="en-CA" dirty="0"/>
              <a:t>Skills, Appendix</a:t>
            </a:r>
          </a:p>
        </p:txBody>
      </p:sp>
      <p:pic>
        <p:nvPicPr>
          <p:cNvPr id="5" name="Content Placeholder 4">
            <a:extLst>
              <a:ext uri="{FF2B5EF4-FFF2-40B4-BE49-F238E27FC236}">
                <a16:creationId xmlns:a16="http://schemas.microsoft.com/office/drawing/2014/main" id="{5FF002E7-2641-0DD0-59C8-AF094E3DDE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5517" y="1447139"/>
            <a:ext cx="6287045" cy="4275190"/>
          </a:xfrm>
          <a:prstGeom prst="rect">
            <a:avLst/>
          </a:prstGeom>
        </p:spPr>
      </p:pic>
      <p:pic>
        <p:nvPicPr>
          <p:cNvPr id="7" name="Picture 6">
            <a:extLst>
              <a:ext uri="{FF2B5EF4-FFF2-40B4-BE49-F238E27FC236}">
                <a16:creationId xmlns:a16="http://schemas.microsoft.com/office/drawing/2014/main" id="{48D8BA05-4C44-8247-2D6D-04191625A1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5245" y="871071"/>
            <a:ext cx="4938188" cy="4915326"/>
          </a:xfrm>
          <a:prstGeom prst="rect">
            <a:avLst/>
          </a:prstGeom>
        </p:spPr>
      </p:pic>
      <p:pic>
        <p:nvPicPr>
          <p:cNvPr id="9" name="Picture 8">
            <a:extLst>
              <a:ext uri="{FF2B5EF4-FFF2-40B4-BE49-F238E27FC236}">
                <a16:creationId xmlns:a16="http://schemas.microsoft.com/office/drawing/2014/main" id="{B2012BEA-C172-0574-8ED8-BE39DAA28F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747" y="6061292"/>
            <a:ext cx="10455546" cy="731583"/>
          </a:xfrm>
          <a:prstGeom prst="rect">
            <a:avLst/>
          </a:prstGeom>
        </p:spPr>
      </p:pic>
    </p:spTree>
    <p:extLst>
      <p:ext uri="{BB962C8B-B14F-4D97-AF65-F5344CB8AC3E}">
        <p14:creationId xmlns:p14="http://schemas.microsoft.com/office/powerpoint/2010/main" val="1428456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11607-7608-773B-2D1E-5FABBD6B77FE}"/>
              </a:ext>
            </a:extLst>
          </p:cNvPr>
          <p:cNvSpPr>
            <a:spLocks noGrp="1"/>
          </p:cNvSpPr>
          <p:nvPr>
            <p:ph type="title"/>
          </p:nvPr>
        </p:nvSpPr>
        <p:spPr/>
        <p:txBody>
          <a:bodyPr/>
          <a:lstStyle/>
          <a:p>
            <a:r>
              <a:rPr lang="en-CA" dirty="0"/>
              <a:t>University Research, Appendix</a:t>
            </a:r>
          </a:p>
        </p:txBody>
      </p:sp>
      <p:pic>
        <p:nvPicPr>
          <p:cNvPr id="5" name="Content Placeholder 4">
            <a:extLst>
              <a:ext uri="{FF2B5EF4-FFF2-40B4-BE49-F238E27FC236}">
                <a16:creationId xmlns:a16="http://schemas.microsoft.com/office/drawing/2014/main" id="{12C4CA71-95B0-2FF9-B1A9-655150559B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2382" y="1298362"/>
            <a:ext cx="4768683" cy="4351338"/>
          </a:xfrm>
          <a:prstGeom prst="rect">
            <a:avLst/>
          </a:prstGeom>
        </p:spPr>
      </p:pic>
      <p:pic>
        <p:nvPicPr>
          <p:cNvPr id="7" name="Picture 6">
            <a:extLst>
              <a:ext uri="{FF2B5EF4-FFF2-40B4-BE49-F238E27FC236}">
                <a16:creationId xmlns:a16="http://schemas.microsoft.com/office/drawing/2014/main" id="{6163FDF2-332D-7948-1B4A-E364BD1DE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047" y="5885143"/>
            <a:ext cx="10531753" cy="853514"/>
          </a:xfrm>
          <a:prstGeom prst="rect">
            <a:avLst/>
          </a:prstGeom>
        </p:spPr>
      </p:pic>
      <p:pic>
        <p:nvPicPr>
          <p:cNvPr id="9" name="Picture 8">
            <a:extLst>
              <a:ext uri="{FF2B5EF4-FFF2-40B4-BE49-F238E27FC236}">
                <a16:creationId xmlns:a16="http://schemas.microsoft.com/office/drawing/2014/main" id="{05203F5B-6417-07A9-1EB4-522D9B455D4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1872" y="1359297"/>
            <a:ext cx="6172735" cy="4229467"/>
          </a:xfrm>
          <a:prstGeom prst="rect">
            <a:avLst/>
          </a:prstGeom>
        </p:spPr>
      </p:pic>
    </p:spTree>
    <p:extLst>
      <p:ext uri="{BB962C8B-B14F-4D97-AF65-F5344CB8AC3E}">
        <p14:creationId xmlns:p14="http://schemas.microsoft.com/office/powerpoint/2010/main" val="799236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DFCCD-6230-7A0B-A2EA-670A581E2E81}"/>
              </a:ext>
            </a:extLst>
          </p:cNvPr>
          <p:cNvSpPr>
            <a:spLocks noGrp="1"/>
          </p:cNvSpPr>
          <p:nvPr>
            <p:ph type="title"/>
          </p:nvPr>
        </p:nvSpPr>
        <p:spPr/>
        <p:txBody>
          <a:bodyPr/>
          <a:lstStyle/>
          <a:p>
            <a:r>
              <a:rPr lang="en-CA" dirty="0"/>
              <a:t>Early Learning/Child care, Appendix</a:t>
            </a:r>
          </a:p>
        </p:txBody>
      </p:sp>
      <p:pic>
        <p:nvPicPr>
          <p:cNvPr id="17" name="Content Placeholder 16">
            <a:extLst>
              <a:ext uri="{FF2B5EF4-FFF2-40B4-BE49-F238E27FC236}">
                <a16:creationId xmlns:a16="http://schemas.microsoft.com/office/drawing/2014/main" id="{89ECBCE8-1B1F-B8A3-2730-CDA32FB6F2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51564" y="1499117"/>
            <a:ext cx="6134632" cy="4237087"/>
          </a:xfrm>
          <a:prstGeom prst="rect">
            <a:avLst/>
          </a:prstGeom>
        </p:spPr>
      </p:pic>
      <p:pic>
        <p:nvPicPr>
          <p:cNvPr id="19" name="Picture 18">
            <a:extLst>
              <a:ext uri="{FF2B5EF4-FFF2-40B4-BE49-F238E27FC236}">
                <a16:creationId xmlns:a16="http://schemas.microsoft.com/office/drawing/2014/main" id="{74BBF51C-F741-AA50-5BC2-9D7D5A8918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9376" y="1405902"/>
            <a:ext cx="4131012" cy="4446877"/>
          </a:xfrm>
          <a:prstGeom prst="rect">
            <a:avLst/>
          </a:prstGeom>
        </p:spPr>
      </p:pic>
      <p:pic>
        <p:nvPicPr>
          <p:cNvPr id="21" name="Picture 20">
            <a:extLst>
              <a:ext uri="{FF2B5EF4-FFF2-40B4-BE49-F238E27FC236}">
                <a16:creationId xmlns:a16="http://schemas.microsoft.com/office/drawing/2014/main" id="{601F53A8-6360-3386-D899-1C28F54A18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1588" y="5969354"/>
            <a:ext cx="10188823" cy="670618"/>
          </a:xfrm>
          <a:prstGeom prst="rect">
            <a:avLst/>
          </a:prstGeom>
        </p:spPr>
      </p:pic>
    </p:spTree>
    <p:extLst>
      <p:ext uri="{BB962C8B-B14F-4D97-AF65-F5344CB8AC3E}">
        <p14:creationId xmlns:p14="http://schemas.microsoft.com/office/powerpoint/2010/main" val="694987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BF1B1-4655-666F-B0D4-8D35E3B809FE}"/>
              </a:ext>
            </a:extLst>
          </p:cNvPr>
          <p:cNvSpPr>
            <a:spLocks noGrp="1"/>
          </p:cNvSpPr>
          <p:nvPr>
            <p:ph type="title"/>
          </p:nvPr>
        </p:nvSpPr>
        <p:spPr/>
        <p:txBody>
          <a:bodyPr/>
          <a:lstStyle/>
          <a:p>
            <a:r>
              <a:rPr lang="en-CA" dirty="0"/>
              <a:t>Federalism, Appendix</a:t>
            </a:r>
          </a:p>
        </p:txBody>
      </p:sp>
      <p:pic>
        <p:nvPicPr>
          <p:cNvPr id="5" name="Content Placeholder 4">
            <a:extLst>
              <a:ext uri="{FF2B5EF4-FFF2-40B4-BE49-F238E27FC236}">
                <a16:creationId xmlns:a16="http://schemas.microsoft.com/office/drawing/2014/main" id="{27B0A462-BDEA-8ACC-8FF8-59AAA64D391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1344749"/>
            <a:ext cx="5867908" cy="4168501"/>
          </a:xfrm>
          <a:prstGeom prst="rect">
            <a:avLst/>
          </a:prstGeom>
        </p:spPr>
      </p:pic>
      <p:pic>
        <p:nvPicPr>
          <p:cNvPr id="7" name="Picture 6">
            <a:extLst>
              <a:ext uri="{FF2B5EF4-FFF2-40B4-BE49-F238E27FC236}">
                <a16:creationId xmlns:a16="http://schemas.microsoft.com/office/drawing/2014/main" id="{C660CDE4-4E07-3168-5155-CD159280CA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5416" y="5830094"/>
            <a:ext cx="10021168" cy="701101"/>
          </a:xfrm>
          <a:prstGeom prst="rect">
            <a:avLst/>
          </a:prstGeom>
        </p:spPr>
      </p:pic>
      <p:pic>
        <p:nvPicPr>
          <p:cNvPr id="9" name="Picture 8">
            <a:extLst>
              <a:ext uri="{FF2B5EF4-FFF2-40B4-BE49-F238E27FC236}">
                <a16:creationId xmlns:a16="http://schemas.microsoft.com/office/drawing/2014/main" id="{E54908A0-276D-10A7-8D14-2A627C4BFC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85416" y="1251981"/>
            <a:ext cx="4263617" cy="4505656"/>
          </a:xfrm>
          <a:prstGeom prst="rect">
            <a:avLst/>
          </a:prstGeom>
        </p:spPr>
      </p:pic>
    </p:spTree>
    <p:extLst>
      <p:ext uri="{BB962C8B-B14F-4D97-AF65-F5344CB8AC3E}">
        <p14:creationId xmlns:p14="http://schemas.microsoft.com/office/powerpoint/2010/main" val="9849764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2266</TotalTime>
  <Words>2719</Words>
  <Application>Microsoft Office PowerPoint</Application>
  <PresentationFormat>Widescreen</PresentationFormat>
  <Paragraphs>223</Paragraphs>
  <Slides>22</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Aptos Display</vt:lpstr>
      <vt:lpstr>Aptos(Body)</vt:lpstr>
      <vt:lpstr>Arial</vt:lpstr>
      <vt:lpstr>Calibri</vt:lpstr>
      <vt:lpstr>Office Theme</vt:lpstr>
      <vt:lpstr>How Do Canadian MPs Talk About Education? </vt:lpstr>
      <vt:lpstr>Research Question</vt:lpstr>
      <vt:lpstr>Why study how federal MPs talk about education? </vt:lpstr>
      <vt:lpstr>Data Collection</vt:lpstr>
      <vt:lpstr>Workflow</vt:lpstr>
      <vt:lpstr>How were speeches coded? </vt:lpstr>
      <vt:lpstr>Examples</vt:lpstr>
      <vt:lpstr>How does education show up in parliamentary speeches over time? </vt:lpstr>
      <vt:lpstr>Results: Hand-Code/LLM zero-shot Validation</vt:lpstr>
      <vt:lpstr>Results: Overall Topic Proportions</vt:lpstr>
      <vt:lpstr>Results: Proportion of Topics Over Time</vt:lpstr>
      <vt:lpstr>Results: Party Differences</vt:lpstr>
      <vt:lpstr>How do MPs talk about education? </vt:lpstr>
      <vt:lpstr>Next Steps</vt:lpstr>
      <vt:lpstr>Thanks! Questions? </vt:lpstr>
      <vt:lpstr>Indigenous, Appendix</vt:lpstr>
      <vt:lpstr>Language, Appendix</vt:lpstr>
      <vt:lpstr>Education Affordability/Access, Appendix</vt:lpstr>
      <vt:lpstr>Skills, Appendix</vt:lpstr>
      <vt:lpstr>University Research, Appendix</vt:lpstr>
      <vt:lpstr>Early Learning/Child care, Appendix</vt:lpstr>
      <vt:lpstr>Federalism, 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Kaylynn Driggers</dc:creator>
  <cp:lastModifiedBy>Kaylynn Driggers</cp:lastModifiedBy>
  <cp:revision>25</cp:revision>
  <dcterms:created xsi:type="dcterms:W3CDTF">2026-04-12T04:04:18Z</dcterms:created>
  <dcterms:modified xsi:type="dcterms:W3CDTF">2026-04-13T17:50:48Z</dcterms:modified>
</cp:coreProperties>
</file>